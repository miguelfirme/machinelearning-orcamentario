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tonio Gregorio Firme" userId="24f58726-6ed6-40af-b5db-feb632919363" providerId="ADAL" clId="{CC393D6D-374E-49F0-A079-E0896B0C9D10}"/>
    <pc:docChg chg="custSel modSld sldOrd">
      <pc:chgData name="Miguel Antonio Gregorio Firme" userId="24f58726-6ed6-40af-b5db-feb632919363" providerId="ADAL" clId="{CC393D6D-374E-49F0-A079-E0896B0C9D10}" dt="2026-10-01T23:11:31.971" v="16" actId="27636"/>
      <pc:docMkLst>
        <pc:docMk/>
      </pc:docMkLst>
      <pc:sldChg chg="modSp mod ord">
        <pc:chgData name="Miguel Antonio Gregorio Firme" userId="24f58726-6ed6-40af-b5db-feb632919363" providerId="ADAL" clId="{CC393D6D-374E-49F0-A079-E0896B0C9D10}" dt="2026-10-01T23:11:31.971" v="16" actId="27636"/>
        <pc:sldMkLst>
          <pc:docMk/>
          <pc:sldMk cId="1148711875" sldId="258"/>
        </pc:sldMkLst>
        <pc:spChg chg="mod">
          <ac:chgData name="Miguel Antonio Gregorio Firme" userId="24f58726-6ed6-40af-b5db-feb632919363" providerId="ADAL" clId="{CC393D6D-374E-49F0-A079-E0896B0C9D10}" dt="2026-10-01T23:11:31.971" v="16" actId="27636"/>
          <ac:spMkLst>
            <pc:docMk/>
            <pc:sldMk cId="1148711875" sldId="258"/>
            <ac:spMk id="2" creationId="{FE6EC6E0-395C-43AB-83FF-CC4B0E73BBB2}"/>
          </ac:spMkLst>
        </pc:spChg>
      </pc:sldChg>
      <pc:sldChg chg="modSp mod">
        <pc:chgData name="Miguel Antonio Gregorio Firme" userId="24f58726-6ed6-40af-b5db-feb632919363" providerId="ADAL" clId="{CC393D6D-374E-49F0-A079-E0896B0C9D10}" dt="2026-10-01T23:11:19.777" v="5" actId="27636"/>
        <pc:sldMkLst>
          <pc:docMk/>
          <pc:sldMk cId="1904560765" sldId="259"/>
        </pc:sldMkLst>
        <pc:spChg chg="mod">
          <ac:chgData name="Miguel Antonio Gregorio Firme" userId="24f58726-6ed6-40af-b5db-feb632919363" providerId="ADAL" clId="{CC393D6D-374E-49F0-A079-E0896B0C9D10}" dt="2026-10-01T23:11:19.777" v="5" actId="27636"/>
          <ac:spMkLst>
            <pc:docMk/>
            <pc:sldMk cId="1904560765" sldId="259"/>
            <ac:spMk id="2" creationId="{C0D820B5-0647-4D4E-9F83-59AF7BEE5385}"/>
          </ac:spMkLst>
        </pc:spChg>
      </pc:sldChg>
      <pc:sldChg chg="modSp mod">
        <pc:chgData name="Miguel Antonio Gregorio Firme" userId="24f58726-6ed6-40af-b5db-feb632919363" providerId="ADAL" clId="{CC393D6D-374E-49F0-A079-E0896B0C9D10}" dt="2026-10-01T23:11:23.588" v="8" actId="20577"/>
        <pc:sldMkLst>
          <pc:docMk/>
          <pc:sldMk cId="852897805" sldId="260"/>
        </pc:sldMkLst>
        <pc:spChg chg="mod">
          <ac:chgData name="Miguel Antonio Gregorio Firme" userId="24f58726-6ed6-40af-b5db-feb632919363" providerId="ADAL" clId="{CC393D6D-374E-49F0-A079-E0896B0C9D10}" dt="2026-10-01T23:11:23.588" v="8" actId="20577"/>
          <ac:spMkLst>
            <pc:docMk/>
            <pc:sldMk cId="852897805" sldId="260"/>
            <ac:spMk id="2" creationId="{312D5E1B-7402-4957-8465-A36AE0844418}"/>
          </ac:spMkLst>
        </pc:spChg>
      </pc:sldChg>
      <pc:sldChg chg="modSp mod">
        <pc:chgData name="Miguel Antonio Gregorio Firme" userId="24f58726-6ed6-40af-b5db-feb632919363" providerId="ADAL" clId="{CC393D6D-374E-49F0-A079-E0896B0C9D10}" dt="2026-10-01T23:11:27.366" v="12" actId="27636"/>
        <pc:sldMkLst>
          <pc:docMk/>
          <pc:sldMk cId="1284986654" sldId="261"/>
        </pc:sldMkLst>
        <pc:spChg chg="mod">
          <ac:chgData name="Miguel Antonio Gregorio Firme" userId="24f58726-6ed6-40af-b5db-feb632919363" providerId="ADAL" clId="{CC393D6D-374E-49F0-A079-E0896B0C9D10}" dt="2026-10-01T23:11:27.366" v="12" actId="27636"/>
          <ac:spMkLst>
            <pc:docMk/>
            <pc:sldMk cId="1284986654" sldId="261"/>
            <ac:spMk id="2" creationId="{1760E479-6BE4-49D6-BF73-2E8F594EA3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problema em uma frase: estimar em segundos o tempo de corte antes de produzir a peça. A fotografia de capa é uma ilustração gerada com a ferramenta de imagens integrada.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aplicação é anterior à fabricação. Uma previsão baixa pode subestimar custo e prazo; uma alta pode reduzir a competitividade da proposta. Fonte: Relatório_preenchido.docx, introdução.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Falar em benefício esperado. O projeto não mede economia financeira ou redução efetiva de prazos. Fonte: relatório, justificativa.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alvo é contínuo. Não há um classificador original de tempo curto, médio ou longo; por isso recall e F1 não são métricas primárias. Fonte: relatório, definição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São 27 atributos numéricos e um categórico. Atributos geométricos vêm do extrator DXF; peso é estimado. Fonte: extract_dxf_geometry.py e relatório, seção 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confundir arquivo bruto com amostra analítica. O filtro manteve 1.141 de 1.919 registros. Fonte: dataset_plasma_v10.csv, relatorio_treinamento.json.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Bakker: https://essay.utwente.nl/97072/ . Ma’ruf et al.: https://doi.org/10.1016/j.procir.2024.10.063 . As saídas e operações diferem do nosso corte plasma por peça, portanto não comparar os erros diretamente.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Arıkan et al., https://arxiv.org/abs/2508.12440 . Os resultados de MAPE variam entre grupos e não constituem benchmark direto para esta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Miebs e Bachorz, https://arxiv.org/abs/2505.04241 ; XLAB CNCSmart, https://xlab.si/research/cncsmart/ . CNCSmart é um caso industrial, não uma comparação de métricas publicada na página consultada.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relatório do projeto; Ma’ruf et al. https://doi.org/10.1016/j.procir.2024.10.063 ; Arıkan et al. https://arxiv.org/abs/2508.12440 ; Miebs e Bachorz https://arxiv.org/abs/2505.04241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Transição para metodologia. Agora explicar preparação, validação e escolha de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Mínimo 4,53 s, máximo 300 s, mediana 60 s e média 82,01 s. A cauda à direita aparece nos tempos altos. Fonte: relatorio_treinamento.json e gráfico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Numéricos: mediana e StandardScaler. Material: moda e OneHotEncoder. Polinomial: grau 2 e nova padronização. O pipeline reaplica o mesmo tratamento na previsão. Fonte: src/treinar_modelos_plasma.py.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GroupKFold externo 5, interno 4. Ao final, métricas nas 1.141 previsões externas. Dados duplicados pelo mesmo vetor de entradas ficam na mesma dobra. Fonte: src/treinar_modelos_plasma.py.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ajuste final escolheu 7 vizinhos. Nas dobras externas, o k ótimo variou; não dizer que sempre foram 7. Manhattan teve menor MAE interno médio, 18,92 s. Fonte: relatorio_treinamento.json.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Ridge múltipla teve RMSE e R² ligeiramente melhores. A escolha da polinomial seguiu o MAE como métrica principal. Fonte: relatorio_treinamento.json.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MAE 17,43 s não significa erro igual em cada peça. R² 0,722 não significa 72,2% de previsões certas. Recall e F1 exigem classes; alvo original é contínuo. O limite de 20 s é um critério de análise, não tolerância universal da fábrica. Fonte: relatório, seção 3.4.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Todos os resultados são de previsões externas para as 1.141 peças. KNN: MAE 17,43496, RMSE 27,51328, R² 0,72242, até 20 s 70,4645%. Fonte: resultados/relatorio_treinamento.json.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Pontos são previsões fora da amostra. Os eixos dos dois gráficos têm limites diferentes; para comparação quantitativa usar as métricas. Fonte: previsoes_validacao_cruzada.csv e gráficos 03/05.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Critério de análise adotado, sem validação como tolerância operacional. Fonte: relatorio_treinamento.json e gráfico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Visualização por faixas de uma regressão. Percentuais em cada linha real. Não substitui MAE, RMSE e R². Duas peças na mesma faixa podem ter erros distintos. Fonte: gráfico 09 e relatório, Figura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teste funcional da peça 00.BL.1001 comprova o fluxo de ponta a ponta, não generalização, pois os modelos finais foram ajustados com toda a base. Fonte: relatório, produto final e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Conclusão restrita aos modelos e à base avaliados. O KNN é principal e Ridge Polinomial é a segunda referência. Uso em outras condições precisa de nova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completas em Relatório_preenchido.docx. Links: https://essay.utwente.nl/97072/ ; https://doi.org/10.1016/j.procir.2024.10.063 ; https://arxiv.org/abs/2508.12440 ; https://arxiv.org/abs/2505.04241 ; https://xlab.si/research/cncsmart/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5D4258E-ACAE-4A71-964D-67A55C76FB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rcRect l="30000"/>
          <a:stretch/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4B91B17-BE1D-4CE3-9D9C-88C85A7570DC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74295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4985F68-49F7-469A-992D-EF089784278F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defRPr sz="15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UNISATC / ENGENHARIA DA COMPUTAÇÃO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10F570-56D9-4A39-A67E-DDFF3D4EE39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667500" cy="2428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TEMPO</a:t>
            </a:r>
          </a:p>
          <a:p>
            <a:pPr>
              <a:def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DE CORTE</a:t>
            </a:r>
          </a:p>
          <a:p>
            <a:pPr>
              <a:def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PLASMA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1F3A5F9-C20C-4048-9D68-E03723F83937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63817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Previsão por geometria DXF</a:t>
            </a:r>
          </a:p>
          <a:p>
            <a:pPr>
              <a:defRPr sz="21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com KNN e Ridge Polinomial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D5707FF-94A1-4676-AA23-0D3B9D2A783E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6"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MIGUEL FIRME     2026</a:t>
            </a:r>
          </a:p>
        </p:txBody>
      </p:sp>
    </p:spTree>
    <p:extLst>
      <p:ext uri="{BB962C8B-B14F-4D97-AF65-F5344CB8AC3E}">
        <p14:creationId xmlns:p14="http://schemas.microsoft.com/office/powerpoint/2010/main" val="79540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10FBC188-4978-4F05-BCEC-B558D3624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D51DA5-43AA-435F-AF50-3507153D108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01 / CONTEXTO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A7D52BD-B4D1-44A9-B6A3-74CC07176324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 decisão acontece antes da máquina ligar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5F7ADE-3E57-4A5F-9C04-E2B340CEB0B2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82E08D-36A4-4CD4-B51B-F24AC6D98109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1A91FE4-7D16-445D-A1C9-9F6872388C39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F71996-5AAB-4DEA-BB40-5F23A4C16BB4}"/>
              </a:ext>
            </a:extLst>
          </p:cNvPr>
          <p:cNvSpPr>
            <a:spLocks noGrp="1"/>
          </p:cNvSpPr>
          <p:nvPr/>
        </p:nvSpPr>
        <p:spPr>
          <a:xfrm>
            <a:off x="590550" y="1962150"/>
            <a:ext cx="71913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6"/>
          </a:bodyPr>
          <a:lstStyle/>
          <a:p>
            <a:pPr>
              <a:defRPr sz="22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DXF + MATERIAL + ESPESSURA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CB2B49B-BDA1-4325-B959-669935E70EC5}"/>
              </a:ext>
            </a:extLst>
          </p:cNvPr>
          <p:cNvSpPr>
            <a:spLocks noGrp="1"/>
          </p:cNvSpPr>
          <p:nvPr/>
        </p:nvSpPr>
        <p:spPr>
          <a:xfrm>
            <a:off x="10287000" y="1933575"/>
            <a:ext cx="1285875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65"/>
          </a:bodyPr>
          <a:lstStyle/>
          <a:p>
            <a:pPr>
              <a:defRPr sz="69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69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A98FFF4-FA17-4A8F-862A-5397725974BF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7810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O orçamento precisa reservar tempo de máquina antes da fabricação. O desenho e os dados da chapa já existem; o tempo real de corte ainda é desconhecido.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53A3A2-35A9-410C-B33E-EF09F4BB4393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10763250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290BB9-C597-4516-8D37-0CEA9C3FC070}"/>
              </a:ext>
            </a:extLst>
          </p:cNvPr>
          <p:cNvSpPr>
            <a:spLocks noGrp="1"/>
          </p:cNvSpPr>
          <p:nvPr/>
        </p:nvSpPr>
        <p:spPr>
          <a:xfrm>
            <a:off x="590550" y="51244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325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A pergunta do projeto: quanto tempo esta peça deve ocupar a máquina de plasma?</a:t>
            </a:r>
          </a:p>
        </p:txBody>
      </p:sp>
    </p:spTree>
    <p:extLst>
      <p:ext uri="{BB962C8B-B14F-4D97-AF65-F5344CB8AC3E}">
        <p14:creationId xmlns:p14="http://schemas.microsoft.com/office/powerpoint/2010/main" val="18294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3A933A4A-5CBF-4F5A-BBED-AA61D8DC7F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D820B5-0647-4D4E-9F83-59AF7BEE538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</a:t>
            </a:r>
            <a:r>
              <a:rPr lang="pt-BR"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2</a:t>
            </a: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 / APLICAÇÃO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75DB5E-767F-456F-8433-11EB5B87F052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 erro de tempo tem efeito operacional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2C2A4AC-F809-48B5-ABD3-EAC0184E046B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C8617F-C10A-49AB-A703-619AF01208DF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8C8135-6ED1-4CAB-A9B3-747A216046D1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4AA43DD-AD84-4E1D-ABB7-474E69E72597}"/>
              </a:ext>
            </a:extLst>
          </p:cNvPr>
          <p:cNvSpPr>
            <a:spLocks noGrp="1"/>
          </p:cNvSpPr>
          <p:nvPr/>
        </p:nvSpPr>
        <p:spPr>
          <a:xfrm>
            <a:off x="590550" y="2028825"/>
            <a:ext cx="600075" cy="666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382F0A-68FF-422E-AC2D-3BFE8F4A3ADE}"/>
              </a:ext>
            </a:extLst>
          </p:cNvPr>
          <p:cNvSpPr>
            <a:spLocks noGrp="1"/>
          </p:cNvSpPr>
          <p:nvPr/>
        </p:nvSpPr>
        <p:spPr>
          <a:xfrm>
            <a:off x="590550" y="2295525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Orçamento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18D927-27AA-46C4-8B5D-20A3AD39CB13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328612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Tempo previsto entra na composição de custo.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AA4E88-0108-4FAE-87B5-61415ED97DE1}"/>
              </a:ext>
            </a:extLst>
          </p:cNvPr>
          <p:cNvSpPr>
            <a:spLocks noGrp="1"/>
          </p:cNvSpPr>
          <p:nvPr/>
        </p:nvSpPr>
        <p:spPr>
          <a:xfrm>
            <a:off x="4333875" y="2028825"/>
            <a:ext cx="600075" cy="666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A89ACFB-C0FC-4200-9266-AF4001E59186}"/>
              </a:ext>
            </a:extLst>
          </p:cNvPr>
          <p:cNvSpPr>
            <a:spLocks noGrp="1"/>
          </p:cNvSpPr>
          <p:nvPr/>
        </p:nvSpPr>
        <p:spPr>
          <a:xfrm>
            <a:off x="4333875" y="2295525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Programação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2372DA-02FC-4095-AC6B-E74DBF2DD8FE}"/>
              </a:ext>
            </a:extLst>
          </p:cNvPr>
          <p:cNvSpPr>
            <a:spLocks noGrp="1"/>
          </p:cNvSpPr>
          <p:nvPr/>
        </p:nvSpPr>
        <p:spPr>
          <a:xfrm>
            <a:off x="4333875" y="2905125"/>
            <a:ext cx="328612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Ajuda a reservar capacidade da máquina.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DE396AA-7852-477E-ABC0-BA8F828F3E50}"/>
              </a:ext>
            </a:extLst>
          </p:cNvPr>
          <p:cNvSpPr>
            <a:spLocks noGrp="1"/>
          </p:cNvSpPr>
          <p:nvPr/>
        </p:nvSpPr>
        <p:spPr>
          <a:xfrm>
            <a:off x="8077200" y="2028825"/>
            <a:ext cx="600075" cy="666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48B3B1F-D180-4516-ABEA-9357133E5F46}"/>
              </a:ext>
            </a:extLst>
          </p:cNvPr>
          <p:cNvSpPr>
            <a:spLocks noGrp="1"/>
          </p:cNvSpPr>
          <p:nvPr/>
        </p:nvSpPr>
        <p:spPr>
          <a:xfrm>
            <a:off x="8077200" y="2295525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Prazo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2A407B-7304-48B3-9377-4CCEAE2FF644}"/>
              </a:ext>
            </a:extLst>
          </p:cNvPr>
          <p:cNvSpPr>
            <a:spLocks noGrp="1"/>
          </p:cNvSpPr>
          <p:nvPr/>
        </p:nvSpPr>
        <p:spPr>
          <a:xfrm>
            <a:off x="8077200" y="2905125"/>
            <a:ext cx="328612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Apoia a conversa sobre entrega antes do corte.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B5F9B5E-B1B8-4EF6-A330-9647F8521DFF}"/>
              </a:ext>
            </a:extLst>
          </p:cNvPr>
          <p:cNvSpPr>
            <a:spLocks noGrp="1"/>
          </p:cNvSpPr>
          <p:nvPr/>
        </p:nvSpPr>
        <p:spPr>
          <a:xfrm>
            <a:off x="590550" y="4962525"/>
            <a:ext cx="10763250" cy="952500"/>
          </a:xfrm>
          <a:prstGeom prst="rect">
            <a:avLst/>
          </a:prstGeom>
          <a:solidFill>
            <a:srgbClr val="23272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606C567-D0AC-4C52-AE07-689F0411FD48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Uso responsável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FA1DA24-C94B-45EF-A148-8E561DA2A012}"/>
              </a:ext>
            </a:extLst>
          </p:cNvPr>
          <p:cNvSpPr>
            <a:spLocks noGrp="1"/>
          </p:cNvSpPr>
          <p:nvPr/>
        </p:nvSpPr>
        <p:spPr>
          <a:xfrm>
            <a:off x="838200" y="5400675"/>
            <a:ext cx="10172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As métricas medem previsão. O ganho financeiro real ainda precisa ser validado na operação.</a:t>
            </a:r>
          </a:p>
        </p:txBody>
      </p:sp>
    </p:spTree>
    <p:extLst>
      <p:ext uri="{BB962C8B-B14F-4D97-AF65-F5344CB8AC3E}">
        <p14:creationId xmlns:p14="http://schemas.microsoft.com/office/powerpoint/2010/main" val="190456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EA89D4B-AE3F-4B0A-9437-5E3709822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2D5E1B-7402-4957-8465-A36AE0844418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892" lnSpcReduction="1000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</a:t>
            </a:r>
            <a:r>
              <a:rPr lang="pt-BR"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3</a:t>
            </a: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 / FORMULAÇÃO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DE2030-54DC-49DA-95A3-A9AF9614951A}"/>
              </a:ext>
            </a:extLst>
          </p:cNvPr>
          <p:cNvSpPr>
            <a:spLocks noGrp="1"/>
          </p:cNvSpPr>
          <p:nvPr/>
        </p:nvSpPr>
        <p:spPr>
          <a:xfrm>
            <a:off x="590550" y="904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Tempo em segundos como variável alvo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08B553-F0C1-4E8C-8A3C-E98476AC0877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B4DD216-C1EA-4FB2-980B-700D58354061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2514127-8E69-4788-A1D9-1C670CD82784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D4FF5B-E1E5-4407-B733-CB5F72F56327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ENTRADAS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1E540A-02C9-4F98-B8E3-D02212C394FD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43815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Material</a:t>
            </a:r>
          </a:p>
          <a:p>
            <a:pPr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Espessura</a:t>
            </a:r>
          </a:p>
          <a:p>
            <a:pPr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Geometria DXF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FA65AB4-EC47-4A3E-9713-DA86BFCD9C6C}"/>
              </a:ext>
            </a:extLst>
          </p:cNvPr>
          <p:cNvSpPr>
            <a:spLocks noGrp="1"/>
          </p:cNvSpPr>
          <p:nvPr/>
        </p:nvSpPr>
        <p:spPr>
          <a:xfrm>
            <a:off x="5457825" y="2333625"/>
            <a:ext cx="47625" cy="28765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EB3AB9B-1686-4B33-8BAA-FB09AA883002}"/>
              </a:ext>
            </a:extLst>
          </p:cNvPr>
          <p:cNvSpPr>
            <a:spLocks noGrp="1"/>
          </p:cNvSpPr>
          <p:nvPr/>
        </p:nvSpPr>
        <p:spPr>
          <a:xfrm>
            <a:off x="6134100" y="232410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ALVO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6ABC6BE-3AE3-4F67-8B1A-4CEFEF169146}"/>
              </a:ext>
            </a:extLst>
          </p:cNvPr>
          <p:cNvSpPr>
            <a:spLocks noGrp="1"/>
          </p:cNvSpPr>
          <p:nvPr/>
        </p:nvSpPr>
        <p:spPr>
          <a:xfrm>
            <a:off x="6134100" y="2924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tempo_corte_plasma_s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F2E1EB4-7943-4DD4-BC22-BB816FBB9F58}"/>
              </a:ext>
            </a:extLst>
          </p:cNvPr>
          <p:cNvSpPr>
            <a:spLocks noGrp="1"/>
          </p:cNvSpPr>
          <p:nvPr/>
        </p:nvSpPr>
        <p:spPr>
          <a:xfrm>
            <a:off x="6134100" y="3924300"/>
            <a:ext cx="5143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0">
                <a:solidFill>
                  <a:srgbClr val="CED6D6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ED6D6"/>
                </a:solidFill>
                <a:latin typeface="Segoe UI"/>
                <a:ea typeface="Segoe UI"/>
                <a:cs typeface="Segoe UI"/>
              </a:rPr>
              <a:t>Tempo de corte da peça, medido em segundos.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95D6474-C58A-4E40-9223-9683B7AE34C9}"/>
              </a:ext>
            </a:extLst>
          </p:cNvPr>
          <p:cNvSpPr>
            <a:spLocks noGrp="1"/>
          </p:cNvSpPr>
          <p:nvPr/>
        </p:nvSpPr>
        <p:spPr>
          <a:xfrm>
            <a:off x="590550" y="5591175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Aprendizado supervisionado por regressão</a:t>
            </a:r>
          </a:p>
        </p:txBody>
      </p:sp>
    </p:spTree>
    <p:extLst>
      <p:ext uri="{BB962C8B-B14F-4D97-AF65-F5344CB8AC3E}">
        <p14:creationId xmlns:p14="http://schemas.microsoft.com/office/powerpoint/2010/main" val="85289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4220A73A-5C61-42C2-93C9-03FB3C41EF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760E479-6BE4-49D6-BF73-2E8F594EA32E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</a:t>
            </a:r>
            <a:r>
              <a:rPr lang="pt-BR"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4</a:t>
            </a: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 / ATRIBUTOS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A8982B-4580-43D9-B9BF-9E48EA1B6082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 desenho oferece pistas do esforço de corte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D2797F-B180-4C6D-AB00-D3FF2F0A29DD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9A43EA-5942-4E36-AAD9-2CE103C37421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F95B69-5891-4AE5-A527-CFAA61C8B71B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45B465-A1B8-4180-8057-C6A2212D7C5F}"/>
              </a:ext>
            </a:extLst>
          </p:cNvPr>
          <p:cNvSpPr>
            <a:spLocks noGrp="1"/>
          </p:cNvSpPr>
          <p:nvPr/>
        </p:nvSpPr>
        <p:spPr>
          <a:xfrm>
            <a:off x="590550" y="2028825"/>
            <a:ext cx="742950" cy="571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F9ACF7-A18A-4DEA-ABF5-80F6BF45C981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444"/>
          </a:bodyPr>
          <a:lstStyle/>
          <a:p>
            <a:pPr>
              <a:def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DIMENSÃO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01C52D2-FD78-4309-A2C5-9A0DECAB5681}"/>
              </a:ext>
            </a:extLst>
          </p:cNvPr>
          <p:cNvSpPr>
            <a:spLocks noGrp="1"/>
          </p:cNvSpPr>
          <p:nvPr/>
        </p:nvSpPr>
        <p:spPr>
          <a:xfrm>
            <a:off x="3829050" y="2209800"/>
            <a:ext cx="7381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largura, comprimento, área, peso estimado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FD83B9B-C6CF-4ECE-AAB2-66E474CE2BFE}"/>
              </a:ext>
            </a:extLst>
          </p:cNvPr>
          <p:cNvSpPr>
            <a:spLocks noGrp="1"/>
          </p:cNvSpPr>
          <p:nvPr/>
        </p:nvSpPr>
        <p:spPr>
          <a:xfrm>
            <a:off x="590550" y="3038475"/>
            <a:ext cx="108108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92521F2-CCE8-4DB9-AF18-B40C4B52F3D2}"/>
              </a:ext>
            </a:extLst>
          </p:cNvPr>
          <p:cNvSpPr>
            <a:spLocks noGrp="1"/>
          </p:cNvSpPr>
          <p:nvPr/>
        </p:nvSpPr>
        <p:spPr>
          <a:xfrm>
            <a:off x="590550" y="3286125"/>
            <a:ext cx="742950" cy="571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5403167-460E-4727-862B-30D16BBB9561}"/>
              </a:ext>
            </a:extLst>
          </p:cNvPr>
          <p:cNvSpPr>
            <a:spLocks noGrp="1"/>
          </p:cNvSpPr>
          <p:nvPr/>
        </p:nvSpPr>
        <p:spPr>
          <a:xfrm>
            <a:off x="590550" y="3476625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444"/>
          </a:bodyPr>
          <a:lstStyle/>
          <a:p>
            <a:pPr>
              <a:def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CAMINHO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C8C1A84-E540-4F13-B818-1DC840685977}"/>
              </a:ext>
            </a:extLst>
          </p:cNvPr>
          <p:cNvSpPr>
            <a:spLocks noGrp="1"/>
          </p:cNvSpPr>
          <p:nvPr/>
        </p:nvSpPr>
        <p:spPr>
          <a:xfrm>
            <a:off x="3829050" y="3467100"/>
            <a:ext cx="7381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perímetro externo, interno, total, trechos curvos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EBAD85-310F-4A16-9ED6-E2E3C5B0F64F}"/>
              </a:ext>
            </a:extLst>
          </p:cNvPr>
          <p:cNvSpPr>
            <a:spLocks noGrp="1"/>
          </p:cNvSpPr>
          <p:nvPr/>
        </p:nvSpPr>
        <p:spPr>
          <a:xfrm>
            <a:off x="590550" y="4295775"/>
            <a:ext cx="108108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BDBF341-537F-4747-BF68-65E3A2BAEBAF}"/>
              </a:ext>
            </a:extLst>
          </p:cNvPr>
          <p:cNvSpPr>
            <a:spLocks noGrp="1"/>
          </p:cNvSpPr>
          <p:nvPr/>
        </p:nvSpPr>
        <p:spPr>
          <a:xfrm>
            <a:off x="590550" y="4543425"/>
            <a:ext cx="742950" cy="571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B05C925-8CB2-4EB3-9B8E-6E126AF1B5CE}"/>
              </a:ext>
            </a:extLst>
          </p:cNvPr>
          <p:cNvSpPr>
            <a:spLocks noGrp="1"/>
          </p:cNvSpPr>
          <p:nvPr/>
        </p:nvSpPr>
        <p:spPr>
          <a:xfrm>
            <a:off x="590550" y="4733925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444"/>
          </a:bodyPr>
          <a:lstStyle/>
          <a:p>
            <a:pPr>
              <a:def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DETALHES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FECF78A-329F-4C28-A6C9-B474C0333306}"/>
              </a:ext>
            </a:extLst>
          </p:cNvPr>
          <p:cNvSpPr>
            <a:spLocks noGrp="1"/>
          </p:cNvSpPr>
          <p:nvPr/>
        </p:nvSpPr>
        <p:spPr>
          <a:xfrm>
            <a:off x="3829050" y="4724400"/>
            <a:ext cx="73818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furos, recortes, contornos, entidades DXF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082AE28-5D49-49D3-94B3-2FD4F9BC6DEE}"/>
              </a:ext>
            </a:extLst>
          </p:cNvPr>
          <p:cNvSpPr>
            <a:spLocks noGrp="1"/>
          </p:cNvSpPr>
          <p:nvPr/>
        </p:nvSpPr>
        <p:spPr>
          <a:xfrm>
            <a:off x="590550" y="5553075"/>
            <a:ext cx="108108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029098F-68D1-4134-A7B7-3AAF01D2A34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>
              <a:defRPr sz="16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Peças com área parecida podem exigir trajetórias de corte diferentes.</a:t>
            </a:r>
          </a:p>
        </p:txBody>
      </p:sp>
    </p:spTree>
    <p:extLst>
      <p:ext uri="{BB962C8B-B14F-4D97-AF65-F5344CB8AC3E}">
        <p14:creationId xmlns:p14="http://schemas.microsoft.com/office/powerpoint/2010/main" val="128498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F3D65DA1-3CC8-4F43-A93F-761F96FF9A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6EC6E0-395C-43AB-83FF-CC4B0E73BBB2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</a:t>
            </a:r>
            <a:r>
              <a:rPr lang="pt-BR"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5</a:t>
            </a:r>
            <a:r>
              <a:rPr sz="1275" b="1" dirty="0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 /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EE5501-FACD-43FF-8732-62CFB313B074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Da base bruta à amostra analisada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21E7FD1-6220-453F-82C5-B5F40023A1F5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305F4E-3EDC-4A11-BB4D-E684847B87BD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84904B-E4E5-4BEA-8E88-FA589CBB0459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9EF6716-90C4-4BD9-A0EA-8F4DCE61AE0C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238125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1.919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DF87DAD-3079-4F75-A15C-51064F0CCF66}"/>
              </a:ext>
            </a:extLst>
          </p:cNvPr>
          <p:cNvSpPr>
            <a:spLocks noGrp="1"/>
          </p:cNvSpPr>
          <p:nvPr/>
        </p:nvSpPr>
        <p:spPr>
          <a:xfrm>
            <a:off x="590550" y="2667000"/>
            <a:ext cx="2381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registros no arquivo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E02B758-9041-4D99-83E3-230FD39ED38F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271462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1.141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E95F972-DE72-4838-9CC7-0EEF2D7DC3C7}"/>
              </a:ext>
            </a:extLst>
          </p:cNvPr>
          <p:cNvSpPr>
            <a:spLocks noGrp="1"/>
          </p:cNvSpPr>
          <p:nvPr/>
        </p:nvSpPr>
        <p:spPr>
          <a:xfrm>
            <a:off x="3448050" y="2667000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peças válidas para plasma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DE4CD3-EDB1-42F7-B898-2AD421E55309}"/>
              </a:ext>
            </a:extLst>
          </p:cNvPr>
          <p:cNvSpPr>
            <a:spLocks noGrp="1"/>
          </p:cNvSpPr>
          <p:nvPr/>
        </p:nvSpPr>
        <p:spPr>
          <a:xfrm>
            <a:off x="6953250" y="1943100"/>
            <a:ext cx="22860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28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DD7871-49DD-4AE5-B007-1340F534F635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entradas do modelo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0089C1B-2782-4C1E-A568-7877C27A241D}"/>
              </a:ext>
            </a:extLst>
          </p:cNvPr>
          <p:cNvSpPr>
            <a:spLocks noGrp="1"/>
          </p:cNvSpPr>
          <p:nvPr/>
        </p:nvSpPr>
        <p:spPr>
          <a:xfrm>
            <a:off x="590550" y="3886200"/>
            <a:ext cx="108108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9792F42-C954-48A5-BE9A-10F6ADE76EA8}"/>
              </a:ext>
            </a:extLst>
          </p:cNvPr>
          <p:cNvSpPr>
            <a:spLocks noGrp="1"/>
          </p:cNvSpPr>
          <p:nvPr/>
        </p:nvSpPr>
        <p:spPr>
          <a:xfrm>
            <a:off x="590550" y="42576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CRITÉRIOS DO RECORTE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06FE0BE-AB48-427C-B091-E913D8B83815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10668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Tempo conhecido, fontes consistentes e todas as características exigidas pelo modelo. A base é interna e combina registros do processo com medidas extraídas dos DXFs.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AC15D50-B653-4439-9C69-00070C40B55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76 colunas de origem  ·  1.109 grupos distintos  ·  64 peças em grupos repetidos</a:t>
            </a:r>
          </a:p>
        </p:txBody>
      </p:sp>
    </p:spTree>
    <p:extLst>
      <p:ext uri="{BB962C8B-B14F-4D97-AF65-F5344CB8AC3E}">
        <p14:creationId xmlns:p14="http://schemas.microsoft.com/office/powerpoint/2010/main" val="114871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24C4A486-78BE-4192-9621-5F62DD5AAF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2683BE-8EA8-48E3-B3BC-9651F8AD4FA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06 / ESTADO DA ARTE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E92A05-14DA-4986-B5EA-5358F02F3DE4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Tempo de fabricação já é tema de pesquisa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90E5746-909E-4A41-B50B-F431DC084411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4333B5-DE8E-4EF7-9075-81CE0C9E029C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074DBB0-A67F-4F64-BBAB-7E1C4509ADC8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235BF6-F8AA-4540-AD05-200ABE7ED907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71"/>
          </a:bodyPr>
          <a:lstStyle/>
          <a:p>
            <a:pPr>
              <a:defRPr sz="48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2023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90B4FF-DCA0-476D-BAB1-8E65C2E1D315}"/>
              </a:ext>
            </a:extLst>
          </p:cNvPr>
          <p:cNvSpPr>
            <a:spLocks noGrp="1"/>
          </p:cNvSpPr>
          <p:nvPr/>
        </p:nvSpPr>
        <p:spPr>
          <a:xfrm>
            <a:off x="3028950" y="19907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BAKKER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121844-F768-426E-8B63-4C12B348866A}"/>
              </a:ext>
            </a:extLst>
          </p:cNvPr>
          <p:cNvSpPr>
            <a:spLocks noGrp="1"/>
          </p:cNvSpPr>
          <p:nvPr/>
        </p:nvSpPr>
        <p:spPr>
          <a:xfrm>
            <a:off x="3028950" y="2495550"/>
            <a:ext cx="78105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Estudo de tempos e regressão linear para estimar carga de trabalho da máquina plasma V310. A saída é o volume de horas necessárias.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7A3BB7-B3C8-4127-BE7E-17FC5E337165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1071562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857A00-6962-4758-879C-43ABA9D2E467}"/>
              </a:ext>
            </a:extLst>
          </p:cNvPr>
          <p:cNvSpPr>
            <a:spLocks noGrp="1"/>
          </p:cNvSpPr>
          <p:nvPr/>
        </p:nvSpPr>
        <p:spPr>
          <a:xfrm>
            <a:off x="590550" y="39243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71"/>
          </a:bodyPr>
          <a:lstStyle/>
          <a:p>
            <a:pPr>
              <a:defRPr sz="48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2024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454CEF9-8469-4662-9CF6-3EA7CA72DB17}"/>
              </a:ext>
            </a:extLst>
          </p:cNvPr>
          <p:cNvSpPr>
            <a:spLocks noGrp="1"/>
          </p:cNvSpPr>
          <p:nvPr/>
        </p:nvSpPr>
        <p:spPr>
          <a:xfrm>
            <a:off x="3028950" y="40671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MA’RUF ET AL.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4754248-5D11-466F-A4CE-DE7F29C63D7B}"/>
              </a:ext>
            </a:extLst>
          </p:cNvPr>
          <p:cNvSpPr>
            <a:spLocks noGrp="1"/>
          </p:cNvSpPr>
          <p:nvPr/>
        </p:nvSpPr>
        <p:spPr>
          <a:xfrm>
            <a:off x="3028950" y="4581525"/>
            <a:ext cx="7905750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Modelos de ML usam dados CAM para prever tempo de usinagem CNC. Geometria e trajetória influenciam o resultado; a rede neural obteve RMSE de 196,35 s no estudo.</a:t>
            </a:r>
          </a:p>
        </p:txBody>
      </p:sp>
    </p:spTree>
    <p:extLst>
      <p:ext uri="{BB962C8B-B14F-4D97-AF65-F5344CB8AC3E}">
        <p14:creationId xmlns:p14="http://schemas.microsoft.com/office/powerpoint/2010/main" val="43063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4AE78AF9-652A-4C17-A13B-70F7F41F3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AA477E-01C8-4FC3-A2E9-614290799C18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06 / ESTADO DA ARTE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722D85-DCA4-4790-A518-59E934413581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Desenhos 2D também sustentam modelos preditivos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F93743-51B4-4A8D-B143-34E19FAE8664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F62330-3660-4CB4-AFA8-571DBFC044A1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6388A9-9C43-4E5C-8D21-B3848D53954D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AA8B3F-69F1-4C97-B130-A2FA27420B45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7810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ARIKAN ET AL. / 2025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5B85A76-6FD2-4561-AD93-70819A44B3E0}"/>
              </a:ext>
            </a:extLst>
          </p:cNvPr>
          <p:cNvSpPr>
            <a:spLocks noGrp="1"/>
          </p:cNvSpPr>
          <p:nvPr/>
        </p:nvSpPr>
        <p:spPr>
          <a:xfrm>
            <a:off x="590550" y="2619375"/>
            <a:ext cx="981075" cy="666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2AE1C7-C7BF-4C6E-8547-7CEAAD5C8652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28575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13.684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3ABC7A-F857-48E9-92F9-2E4B92509D03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desenhos DWG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0B185B-B3A2-48DC-AB1F-17233DF9C06E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28575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24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27E4A85-3A65-4C8D-BB4F-C4CC2D41AA6C}"/>
              </a:ext>
            </a:extLst>
          </p:cNvPr>
          <p:cNvSpPr>
            <a:spLocks noGrp="1"/>
          </p:cNvSpPr>
          <p:nvPr/>
        </p:nvSpPr>
        <p:spPr>
          <a:xfrm>
            <a:off x="4267200" y="363855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grupos de produtos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9C0732E-6FE5-4560-B370-F065C128D3A6}"/>
              </a:ext>
            </a:extLst>
          </p:cNvPr>
          <p:cNvSpPr>
            <a:spLocks noGrp="1"/>
          </p:cNvSpPr>
          <p:nvPr/>
        </p:nvSpPr>
        <p:spPr>
          <a:xfrm>
            <a:off x="7953375" y="2914650"/>
            <a:ext cx="333375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~200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2C0941F-2E51-49C9-BC55-0D9E3BB6D2A6}"/>
              </a:ext>
            </a:extLst>
          </p:cNvPr>
          <p:cNvSpPr>
            <a:spLocks noGrp="1"/>
          </p:cNvSpPr>
          <p:nvPr/>
        </p:nvSpPr>
        <p:spPr>
          <a:xfrm>
            <a:off x="7953375" y="363855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descritores geométricos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D58566-2A5E-4520-8C96-A210F5E9B811}"/>
              </a:ext>
            </a:extLst>
          </p:cNvPr>
          <p:cNvSpPr>
            <a:spLocks noGrp="1"/>
          </p:cNvSpPr>
          <p:nvPr/>
        </p:nvSpPr>
        <p:spPr>
          <a:xfrm>
            <a:off x="590550" y="4686300"/>
            <a:ext cx="105727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O estudo usa XGBoost, CatBoost e LightGBM para estimar custo unitário. O MAPE varia de 3,91% a 18,51% entre os grupos analisados.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B63D051-E83F-407B-9D33-DDDB12A6A91C}"/>
              </a:ext>
            </a:extLst>
          </p:cNvPr>
          <p:cNvSpPr>
            <a:spLocks noGrp="1"/>
          </p:cNvSpPr>
          <p:nvPr/>
        </p:nvSpPr>
        <p:spPr>
          <a:xfrm>
            <a:off x="590550" y="5876925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Conexão: geometria 2D é útil; o alvo deles é custo (€), o nosso é tempo (s).</a:t>
            </a:r>
          </a:p>
        </p:txBody>
      </p:sp>
    </p:spTree>
    <p:extLst>
      <p:ext uri="{BB962C8B-B14F-4D97-AF65-F5344CB8AC3E}">
        <p14:creationId xmlns:p14="http://schemas.microsoft.com/office/powerpoint/2010/main" val="55714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625770F2-91E5-4E71-AAEA-B13160400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FA8D9EB-824A-4BD9-840E-F9D00D73709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06 / ESTADO DA ARTE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7E5E93-E44D-49BE-B002-681C4B57C233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Outras entradas para estimar duração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85313F-C9C3-4650-9D00-4C736D21BEB7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6EEAF6-9F25-4151-B835-2D19D6B8A5F6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A86A0C4-2810-46A3-BECB-6A2FD58ADEA4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348426-3A75-4922-AF55-9292F59057FC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MODELOS 3D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6EC4974-CE32-49CF-BD53-C3CC6AC15163}"/>
              </a:ext>
            </a:extLst>
          </p:cNvPr>
          <p:cNvSpPr>
            <a:spLocks noGrp="1"/>
          </p:cNvSpPr>
          <p:nvPr/>
        </p:nvSpPr>
        <p:spPr>
          <a:xfrm>
            <a:off x="590550" y="2419350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MIEBS E BACHORZ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BB3632-0C10-449C-86FA-BD17CE8EBD78}"/>
              </a:ext>
            </a:extLst>
          </p:cNvPr>
          <p:cNvSpPr>
            <a:spLocks noGrp="1"/>
          </p:cNvSpPr>
          <p:nvPr/>
        </p:nvSpPr>
        <p:spPr>
          <a:xfrm>
            <a:off x="590550" y="3000375"/>
            <a:ext cx="4667250" cy="182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Uma rede neural lê renderizações de modelos 3D e estima a duração de etapas de fabricação. O artigo informa MAE abaixo de 3 s no contexto avaliado.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930128-4B04-42F2-AAB6-155FC2499452}"/>
              </a:ext>
            </a:extLst>
          </p:cNvPr>
          <p:cNvSpPr>
            <a:spLocks noGrp="1"/>
          </p:cNvSpPr>
          <p:nvPr/>
        </p:nvSpPr>
        <p:spPr>
          <a:xfrm>
            <a:off x="5915025" y="2057400"/>
            <a:ext cx="28575" cy="345757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59D00B1-A1D5-463F-AE75-DFDB9A54AC34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PROGRAMAS CNC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7823DC-E8B7-4DDD-BD07-FE6AACC2E921}"/>
              </a:ext>
            </a:extLst>
          </p:cNvPr>
          <p:cNvSpPr>
            <a:spLocks noGrp="1"/>
          </p:cNvSpPr>
          <p:nvPr/>
        </p:nvSpPr>
        <p:spPr>
          <a:xfrm>
            <a:off x="6524625" y="24193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CNCSMART / XLAB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BB28297-3D2B-41AE-9764-216FE5E29291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4667250" cy="182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O projeto usa programas CNC, histórico e parâmetros de corte para prever tempo real de execução. A aplicação inclui máquinas plasma, laser e oxicorte.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9A97EC-8FDE-422D-A57F-FC36C0BB2DCA}"/>
              </a:ext>
            </a:extLst>
          </p:cNvPr>
          <p:cNvSpPr>
            <a:spLocks noGrp="1"/>
          </p:cNvSpPr>
          <p:nvPr/>
        </p:nvSpPr>
        <p:spPr>
          <a:xfrm>
            <a:off x="590550" y="5572125"/>
            <a:ext cx="10706100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320766A-B8C5-444A-A549-0CC8DDE05630}"/>
              </a:ext>
            </a:extLst>
          </p:cNvPr>
          <p:cNvSpPr>
            <a:spLocks noGrp="1"/>
          </p:cNvSpPr>
          <p:nvPr/>
        </p:nvSpPr>
        <p:spPr>
          <a:xfrm>
            <a:off x="590550" y="582930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Nosso recorte: DXF de uma peça, material, espessura e tempo de corte plasma.</a:t>
            </a:r>
          </a:p>
        </p:txBody>
      </p:sp>
    </p:spTree>
    <p:extLst>
      <p:ext uri="{BB962C8B-B14F-4D97-AF65-F5344CB8AC3E}">
        <p14:creationId xmlns:p14="http://schemas.microsoft.com/office/powerpoint/2010/main" val="147813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02AD5FF7-E6D7-48B0-9C13-D069514886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488E31-07FD-4397-BA21-6A660D64AF8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06 / ESTADO DA ARTE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FEBF033-A7E2-4951-8BB1-2FD59BC34E52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As pesquisas respondem a perguntas diferentes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BBDAE6-F5F2-4D11-BE66-5072E11C68AF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67B0528-1BD1-429A-B810-7262C226F643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DD339-022D-470E-B835-A69657350423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EFD2ED-DC0E-40E1-8811-E38F30984396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ESTUDO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4F5A90-212F-4B25-8250-D65B73099C1D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3095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ALVO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59315AF-69BF-4421-B309-DF7EA1AECBFC}"/>
              </a:ext>
            </a:extLst>
          </p:cNvPr>
          <p:cNvSpPr>
            <a:spLocks noGrp="1"/>
          </p:cNvSpPr>
          <p:nvPr/>
        </p:nvSpPr>
        <p:spPr>
          <a:xfrm>
            <a:off x="6762750" y="1952625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ENTRADA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4A92658-5ED8-48A3-B8AA-02B0066F5A65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def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RESULTADO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CCA476-040A-40F0-B696-1C3AC127FE3C}"/>
              </a:ext>
            </a:extLst>
          </p:cNvPr>
          <p:cNvSpPr>
            <a:spLocks noGrp="1"/>
          </p:cNvSpPr>
          <p:nvPr/>
        </p:nvSpPr>
        <p:spPr>
          <a:xfrm>
            <a:off x="590550" y="2419350"/>
            <a:ext cx="106965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D7ECC6-EFB8-450E-A418-6F0E4F9474BE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NOSSO PROJETO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A64270D-BFC1-4E14-8FEC-5BEFB00C3D9A}"/>
              </a:ext>
            </a:extLst>
          </p:cNvPr>
          <p:cNvSpPr>
            <a:spLocks noGrp="1"/>
          </p:cNvSpPr>
          <p:nvPr/>
        </p:nvSpPr>
        <p:spPr>
          <a:xfrm>
            <a:off x="3524250" y="2495550"/>
            <a:ext cx="3095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Corte plasma por peça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484DACE-97A1-4837-A589-82900F902813}"/>
              </a:ext>
            </a:extLst>
          </p:cNvPr>
          <p:cNvSpPr>
            <a:spLocks noGrp="1"/>
          </p:cNvSpPr>
          <p:nvPr/>
        </p:nvSpPr>
        <p:spPr>
          <a:xfrm>
            <a:off x="6762750" y="2495550"/>
            <a:ext cx="2333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DXF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BEED3EC-DA84-443A-8DEC-C5DD23A08B8A}"/>
              </a:ext>
            </a:extLst>
          </p:cNvPr>
          <p:cNvSpPr>
            <a:spLocks noGrp="1"/>
          </p:cNvSpPr>
          <p:nvPr/>
        </p:nvSpPr>
        <p:spPr>
          <a:xfrm>
            <a:off x="9525000" y="2495550"/>
            <a:ext cx="2000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MAE 17,43 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085A29F-8BCD-4BAB-B57A-5E119761DFD0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06965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5010C05-BCFC-4B67-A4CD-BD4867942787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MA’RUF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A74B4AB-E159-46CA-BA6B-03BC19026A21}"/>
              </a:ext>
            </a:extLst>
          </p:cNvPr>
          <p:cNvSpPr>
            <a:spLocks noGrp="1"/>
          </p:cNvSpPr>
          <p:nvPr/>
        </p:nvSpPr>
        <p:spPr>
          <a:xfrm>
            <a:off x="3524250" y="3238500"/>
            <a:ext cx="3095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Usinagem CNC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CC34115-0829-46FA-AFF9-7DD62F6CABFD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2333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CAM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DF45B08-481E-45D4-BB06-BD7D6287C13D}"/>
              </a:ext>
            </a:extLst>
          </p:cNvPr>
          <p:cNvSpPr>
            <a:spLocks noGrp="1"/>
          </p:cNvSpPr>
          <p:nvPr/>
        </p:nvSpPr>
        <p:spPr>
          <a:xfrm>
            <a:off x="9525000" y="3238500"/>
            <a:ext cx="2000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RMSE 196,35 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BCFA170-F6BC-4901-B904-5FEF294CB2EC}"/>
              </a:ext>
            </a:extLst>
          </p:cNvPr>
          <p:cNvSpPr>
            <a:spLocks noGrp="1"/>
          </p:cNvSpPr>
          <p:nvPr/>
        </p:nvSpPr>
        <p:spPr>
          <a:xfrm>
            <a:off x="590550" y="3905250"/>
            <a:ext cx="106965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7BEC32E-5143-4C11-A4A4-B2266D87112C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ARIKAN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8231581-D3BA-4091-B1E5-5322A37C7210}"/>
              </a:ext>
            </a:extLst>
          </p:cNvPr>
          <p:cNvSpPr>
            <a:spLocks noGrp="1"/>
          </p:cNvSpPr>
          <p:nvPr/>
        </p:nvSpPr>
        <p:spPr>
          <a:xfrm>
            <a:off x="3524250" y="3981450"/>
            <a:ext cx="3095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Custo unitário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9D321FA-DF27-434C-8EC3-E5C5B3DE5CF5}"/>
              </a:ext>
            </a:extLst>
          </p:cNvPr>
          <p:cNvSpPr>
            <a:spLocks noGrp="1"/>
          </p:cNvSpPr>
          <p:nvPr/>
        </p:nvSpPr>
        <p:spPr>
          <a:xfrm>
            <a:off x="6762750" y="3981450"/>
            <a:ext cx="2333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DWG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792B5CE-87C4-427D-8424-2AFD02AC9491}"/>
              </a:ext>
            </a:extLst>
          </p:cNvPr>
          <p:cNvSpPr>
            <a:spLocks noGrp="1"/>
          </p:cNvSpPr>
          <p:nvPr/>
        </p:nvSpPr>
        <p:spPr>
          <a:xfrm>
            <a:off x="9525000" y="3981450"/>
            <a:ext cx="2000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MAPE 3,91–18,51%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73009C6-5DCF-4458-A30A-FB40601C0A51}"/>
              </a:ext>
            </a:extLst>
          </p:cNvPr>
          <p:cNvSpPr>
            <a:spLocks noGrp="1"/>
          </p:cNvSpPr>
          <p:nvPr/>
        </p:nvSpPr>
        <p:spPr>
          <a:xfrm>
            <a:off x="590550" y="4648200"/>
            <a:ext cx="106965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0597668-47B3-4F0C-8DF3-BC1B84033BB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MIEBS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2FEFF2A-31CE-4323-A346-14FB19FC3FF6}"/>
              </a:ext>
            </a:extLst>
          </p:cNvPr>
          <p:cNvSpPr>
            <a:spLocks noGrp="1"/>
          </p:cNvSpPr>
          <p:nvPr/>
        </p:nvSpPr>
        <p:spPr>
          <a:xfrm>
            <a:off x="3524250" y="4724400"/>
            <a:ext cx="3095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Etapas produtivas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A924BEF-C5A4-4BA9-83D9-56D776DC7B3D}"/>
              </a:ext>
            </a:extLst>
          </p:cNvPr>
          <p:cNvSpPr>
            <a:spLocks noGrp="1"/>
          </p:cNvSpPr>
          <p:nvPr/>
        </p:nvSpPr>
        <p:spPr>
          <a:xfrm>
            <a:off x="6762750" y="4724400"/>
            <a:ext cx="2333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Modelo 3D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931C754-AB11-4C71-9CBF-C6EA4815E8B6}"/>
              </a:ext>
            </a:extLst>
          </p:cNvPr>
          <p:cNvSpPr>
            <a:spLocks noGrp="1"/>
          </p:cNvSpPr>
          <p:nvPr/>
        </p:nvSpPr>
        <p:spPr>
          <a:xfrm>
            <a:off x="9525000" y="4724400"/>
            <a:ext cx="2000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MAE &lt; 3 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F6A6ABD-EDD7-427A-9239-5644362C0C58}"/>
              </a:ext>
            </a:extLst>
          </p:cNvPr>
          <p:cNvSpPr>
            <a:spLocks noGrp="1"/>
          </p:cNvSpPr>
          <p:nvPr/>
        </p:nvSpPr>
        <p:spPr>
          <a:xfrm>
            <a:off x="590550" y="5676900"/>
            <a:ext cx="10715625" cy="523875"/>
          </a:xfrm>
          <a:prstGeom prst="rect">
            <a:avLst/>
          </a:prstGeom>
          <a:solidFill>
            <a:srgbClr val="23272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AB5DCFE-786A-414C-B7DD-044F2DBE56A7}"/>
              </a:ext>
            </a:extLst>
          </p:cNvPr>
          <p:cNvSpPr>
            <a:spLocks noGrp="1"/>
          </p:cNvSpPr>
          <p:nvPr/>
        </p:nvSpPr>
        <p:spPr>
          <a:xfrm>
            <a:off x="790575" y="575310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Unidades, dados e processos distintos impedem um ranking direto de desempenho.</a:t>
            </a:r>
          </a:p>
        </p:txBody>
      </p:sp>
    </p:spTree>
    <p:extLst>
      <p:ext uri="{BB962C8B-B14F-4D97-AF65-F5344CB8AC3E}">
        <p14:creationId xmlns:p14="http://schemas.microsoft.com/office/powerpoint/2010/main" val="105714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5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E59F56D-BECC-4EE0-936E-AAC0AC29DA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1A1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4104BD-1FE7-4DD8-80D0-1F8F4B4F7987}"/>
              </a:ext>
            </a:extLst>
          </p:cNvPr>
          <p:cNvSpPr>
            <a:spLocks noGrp="1"/>
          </p:cNvSpPr>
          <p:nvPr/>
        </p:nvSpPr>
        <p:spPr>
          <a:xfrm>
            <a:off x="590550" y="6762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PARTE 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C3C295-0A60-4B13-B366-750BA9EFB5F3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10477500" cy="1952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COMO O MODELO</a:t>
            </a:r>
          </a:p>
          <a:p>
            <a:pPr>
              <a:def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50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FOI AVALIADO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A721D2-8D81-4FE4-88C0-BADD0055B97E}"/>
              </a:ext>
            </a:extLst>
          </p:cNvPr>
          <p:cNvSpPr>
            <a:spLocks noGrp="1"/>
          </p:cNvSpPr>
          <p:nvPr/>
        </p:nvSpPr>
        <p:spPr>
          <a:xfrm>
            <a:off x="590550" y="4438650"/>
            <a:ext cx="1571625" cy="85725"/>
          </a:xfrm>
          <a:prstGeom prst="rect">
            <a:avLst/>
          </a:prstGeom>
          <a:solidFill>
            <a:srgbClr val="161A1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D7B51B-AD55-4278-A762-5B884DC20A7D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1000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325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Do arquivo DXF à previsão fora da amostra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BE4DAD-3F34-4CE0-9759-F5F79B487338}"/>
              </a:ext>
            </a:extLst>
          </p:cNvPr>
          <p:cNvSpPr>
            <a:spLocks noGrp="1"/>
          </p:cNvSpPr>
          <p:nvPr/>
        </p:nvSpPr>
        <p:spPr>
          <a:xfrm>
            <a:off x="11144250" y="60007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4295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34C7E3D-A171-48FF-8AB8-9E9D83C19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56D3418-357E-46A2-B650-A6D313CE225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07 / ANÁLISE DA BASE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84F4AB-C806-4152-AE62-3D3958406D30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Há muitas peças curtas e uma cauda longa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2E18E9-A619-489D-9F00-6A6409E1A666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B6E4B4-4650-4CBF-AD79-2AB930BB33AC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958614F-976C-4798-94BF-E6D4D44FE826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1523" y="1828800"/>
            <a:ext cx="6727555" cy="390525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786D8BA-394B-40BC-9F0E-6400F8174E84}"/>
              </a:ext>
            </a:extLst>
          </p:cNvPr>
          <p:cNvSpPr>
            <a:spLocks noGrp="1"/>
          </p:cNvSpPr>
          <p:nvPr/>
        </p:nvSpPr>
        <p:spPr>
          <a:xfrm>
            <a:off x="8343900" y="1943100"/>
            <a:ext cx="28575" cy="38290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2A4D31-5292-4479-B63A-D09040CB4E13}"/>
              </a:ext>
            </a:extLst>
          </p:cNvPr>
          <p:cNvSpPr>
            <a:spLocks noGrp="1"/>
          </p:cNvSpPr>
          <p:nvPr/>
        </p:nvSpPr>
        <p:spPr>
          <a:xfrm>
            <a:off x="8772525" y="2095500"/>
            <a:ext cx="22860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60 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648D1B9-8916-4C74-AB3A-2F7598B51107}"/>
              </a:ext>
            </a:extLst>
          </p:cNvPr>
          <p:cNvSpPr>
            <a:spLocks noGrp="1"/>
          </p:cNvSpPr>
          <p:nvPr/>
        </p:nvSpPr>
        <p:spPr>
          <a:xfrm>
            <a:off x="8772525" y="2819400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mediana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79A6885-50A2-40DF-8EEF-A17B2840275E}"/>
              </a:ext>
            </a:extLst>
          </p:cNvPr>
          <p:cNvSpPr>
            <a:spLocks noGrp="1"/>
          </p:cNvSpPr>
          <p:nvPr/>
        </p:nvSpPr>
        <p:spPr>
          <a:xfrm>
            <a:off x="8772525" y="3543300"/>
            <a:ext cx="238125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82 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16E762-2412-49F3-BBC5-B47F312FBAE5}"/>
              </a:ext>
            </a:extLst>
          </p:cNvPr>
          <p:cNvSpPr>
            <a:spLocks noGrp="1"/>
          </p:cNvSpPr>
          <p:nvPr/>
        </p:nvSpPr>
        <p:spPr>
          <a:xfrm>
            <a:off x="8772525" y="4267200"/>
            <a:ext cx="2381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média aproximada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2A169BE-250E-40E9-A6FD-32986F111849}"/>
              </a:ext>
            </a:extLst>
          </p:cNvPr>
          <p:cNvSpPr>
            <a:spLocks noGrp="1"/>
          </p:cNvSpPr>
          <p:nvPr/>
        </p:nvSpPr>
        <p:spPr>
          <a:xfrm>
            <a:off x="8772525" y="4981575"/>
            <a:ext cx="2571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107 valores extremos pelo IQR foram mantidos: representam peças reais.</a:t>
            </a:r>
          </a:p>
        </p:txBody>
      </p:sp>
    </p:spTree>
    <p:extLst>
      <p:ext uri="{BB962C8B-B14F-4D97-AF65-F5344CB8AC3E}">
        <p14:creationId xmlns:p14="http://schemas.microsoft.com/office/powerpoint/2010/main" val="20372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7BB68AA-C692-4E65-AAF9-43C8CA0A4A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F7E412-56BC-41C5-8875-62D6EBD2C581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08 / PREPARAÇÃO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09352F-2A66-491B-B484-B94B2AACB475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As transformações fazem parte do pipeline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AA2F7D-1B78-4583-9751-873354EAE1D7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56A1E1-9BE7-4669-BF42-4CC458F00B78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A8F9E8A-1A41-4A85-B26A-ED9C99CD9150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F6D2C7-25A4-483F-BEE1-CB838D2C6E95}"/>
              </a:ext>
            </a:extLst>
          </p:cNvPr>
          <p:cNvSpPr>
            <a:spLocks noGrp="1"/>
          </p:cNvSpPr>
          <p:nvPr/>
        </p:nvSpPr>
        <p:spPr>
          <a:xfrm>
            <a:off x="590550" y="1800225"/>
            <a:ext cx="1000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74"/>
          </a:bodyPr>
          <a:lstStyle/>
          <a:p>
            <a:pPr>
              <a:def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234796-AFE8-4D15-B604-C9FDAF710ADD}"/>
              </a:ext>
            </a:extLst>
          </p:cNvPr>
          <p:cNvSpPr>
            <a:spLocks noGrp="1"/>
          </p:cNvSpPr>
          <p:nvPr/>
        </p:nvSpPr>
        <p:spPr>
          <a:xfrm>
            <a:off x="1695450" y="18192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LER DXF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6C97D41-6A4F-4958-9A35-284725168B8D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59817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extrair contornos e medidas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3918FD3-61BC-48A0-9FEE-EA9D63C7C7DE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55726E-7461-48C7-8773-3491CD65F0B7}"/>
              </a:ext>
            </a:extLst>
          </p:cNvPr>
          <p:cNvSpPr>
            <a:spLocks noGrp="1"/>
          </p:cNvSpPr>
          <p:nvPr/>
        </p:nvSpPr>
        <p:spPr>
          <a:xfrm>
            <a:off x="590550" y="2628900"/>
            <a:ext cx="1000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74"/>
          </a:bodyPr>
          <a:lstStyle/>
          <a:p>
            <a:pPr>
              <a:def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D050C9A-ABBD-43E2-8AFC-2961F4F15FFD}"/>
              </a:ext>
            </a:extLst>
          </p:cNvPr>
          <p:cNvSpPr>
            <a:spLocks noGrp="1"/>
          </p:cNvSpPr>
          <p:nvPr/>
        </p:nvSpPr>
        <p:spPr>
          <a:xfrm>
            <a:off x="1695450" y="26479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MONTAR ENTRADAS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F0CCAD1-5B2D-45BE-BBB2-B3A97E6345A5}"/>
              </a:ext>
            </a:extLst>
          </p:cNvPr>
          <p:cNvSpPr>
            <a:spLocks noGrp="1"/>
          </p:cNvSpPr>
          <p:nvPr/>
        </p:nvSpPr>
        <p:spPr>
          <a:xfrm>
            <a:off x="5048250" y="2638425"/>
            <a:ext cx="59817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27 numéricas + material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6F7DACA-C586-46A4-8BCD-F7BA2E31F55A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CB7AC04-AEA9-427F-A388-871F41612D76}"/>
              </a:ext>
            </a:extLst>
          </p:cNvPr>
          <p:cNvSpPr>
            <a:spLocks noGrp="1"/>
          </p:cNvSpPr>
          <p:nvPr/>
        </p:nvSpPr>
        <p:spPr>
          <a:xfrm>
            <a:off x="590550" y="3457575"/>
            <a:ext cx="1000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74"/>
          </a:bodyPr>
          <a:lstStyle/>
          <a:p>
            <a:pPr>
              <a:def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58C0541-3D33-45F3-9A0F-3172E4A5A3D8}"/>
              </a:ext>
            </a:extLst>
          </p:cNvPr>
          <p:cNvSpPr>
            <a:spLocks noGrp="1"/>
          </p:cNvSpPr>
          <p:nvPr/>
        </p:nvSpPr>
        <p:spPr>
          <a:xfrm>
            <a:off x="1695450" y="34766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TRATAR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B5C1AAD-A485-414B-A0CC-4793598E5AD2}"/>
              </a:ext>
            </a:extLst>
          </p:cNvPr>
          <p:cNvSpPr>
            <a:spLocks noGrp="1"/>
          </p:cNvSpPr>
          <p:nvPr/>
        </p:nvSpPr>
        <p:spPr>
          <a:xfrm>
            <a:off x="5048250" y="3467100"/>
            <a:ext cx="59817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imputar e padronizar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1090BE3-681B-4BF6-82CA-A1349357DD0D}"/>
              </a:ext>
            </a:extLst>
          </p:cNvPr>
          <p:cNvSpPr>
            <a:spLocks noGrp="1"/>
          </p:cNvSpPr>
          <p:nvPr/>
        </p:nvSpPr>
        <p:spPr>
          <a:xfrm>
            <a:off x="590550" y="4133850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7E77127-0FCA-46FE-B029-CB9F3A49E7C3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000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74"/>
          </a:bodyPr>
          <a:lstStyle/>
          <a:p>
            <a:pPr>
              <a:def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3761C14-703F-4115-8B02-5B6FDB9CC12F}"/>
              </a:ext>
            </a:extLst>
          </p:cNvPr>
          <p:cNvSpPr>
            <a:spLocks noGrp="1"/>
          </p:cNvSpPr>
          <p:nvPr/>
        </p:nvSpPr>
        <p:spPr>
          <a:xfrm>
            <a:off x="1695450" y="43053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TREINAR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404DCA7-D3D2-4A73-B94D-ACDB0762D8E3}"/>
              </a:ext>
            </a:extLst>
          </p:cNvPr>
          <p:cNvSpPr>
            <a:spLocks noGrp="1"/>
          </p:cNvSpPr>
          <p:nvPr/>
        </p:nvSpPr>
        <p:spPr>
          <a:xfrm>
            <a:off x="5048250" y="4295775"/>
            <a:ext cx="59817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KNN ou Ridge Polinomial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0AF66A9-CC84-47E0-A70D-CAECAD083B8F}"/>
              </a:ext>
            </a:extLst>
          </p:cNvPr>
          <p:cNvSpPr>
            <a:spLocks noGrp="1"/>
          </p:cNvSpPr>
          <p:nvPr/>
        </p:nvSpPr>
        <p:spPr>
          <a:xfrm>
            <a:off x="590550" y="496252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7069E0A-8E29-4BE2-AD6A-87D216411770}"/>
              </a:ext>
            </a:extLst>
          </p:cNvPr>
          <p:cNvSpPr>
            <a:spLocks noGrp="1"/>
          </p:cNvSpPr>
          <p:nvPr/>
        </p:nvSpPr>
        <p:spPr>
          <a:xfrm>
            <a:off x="590550" y="5114925"/>
            <a:ext cx="1000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74"/>
          </a:bodyPr>
          <a:lstStyle/>
          <a:p>
            <a:pPr>
              <a:def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C352E1B-1950-447C-BD82-55CC91C40977}"/>
              </a:ext>
            </a:extLst>
          </p:cNvPr>
          <p:cNvSpPr>
            <a:spLocks noGrp="1"/>
          </p:cNvSpPr>
          <p:nvPr/>
        </p:nvSpPr>
        <p:spPr>
          <a:xfrm>
            <a:off x="1695450" y="51339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>
              <a:def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PREVER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62A5AB7-6810-49CD-B575-323CFD17CC2E}"/>
              </a:ext>
            </a:extLst>
          </p:cNvPr>
          <p:cNvSpPr>
            <a:spLocks noGrp="1"/>
          </p:cNvSpPr>
          <p:nvPr/>
        </p:nvSpPr>
        <p:spPr>
          <a:xfrm>
            <a:off x="5048250" y="5124450"/>
            <a:ext cx="59817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tempo em segundos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D5CC6D9-86A3-478D-9EDC-BA8DE3278F87}"/>
              </a:ext>
            </a:extLst>
          </p:cNvPr>
          <p:cNvSpPr>
            <a:spLocks noGrp="1"/>
          </p:cNvSpPr>
          <p:nvPr/>
        </p:nvSpPr>
        <p:spPr>
          <a:xfrm>
            <a:off x="590550" y="5791200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5A7F280-D540-48F1-935A-B54D27CDE8E4}"/>
              </a:ext>
            </a:extLst>
          </p:cNvPr>
          <p:cNvSpPr>
            <a:spLocks noGrp="1"/>
          </p:cNvSpPr>
          <p:nvPr/>
        </p:nvSpPr>
        <p:spPr>
          <a:xfrm>
            <a:off x="590550" y="59626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A escala numérica é crucial no KNN: área em mm² não pode dominar todas as distâncias.</a:t>
            </a:r>
          </a:p>
        </p:txBody>
      </p:sp>
    </p:spTree>
    <p:extLst>
      <p:ext uri="{BB962C8B-B14F-4D97-AF65-F5344CB8AC3E}">
        <p14:creationId xmlns:p14="http://schemas.microsoft.com/office/powerpoint/2010/main" val="183874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AC028595-79A2-4858-842E-E7C3A25678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15E843-B31E-4026-B900-35AD5EC7182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09 / VALIDAÇÃO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8529C8-25AD-454A-946A-8F899C2BED5F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Escolha e avaliação em etapas separadas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534A61-5B32-47EB-B497-BEA9734BFBD4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01368A-EB84-4639-9CF6-99DF0655AFB7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A12490-1AE6-4C55-A157-A7BBF229E64C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519366-F4E7-4BA3-BBEE-396FFFB058A1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2095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72"/>
          </a:bodyPr>
          <a:lstStyle/>
          <a:p>
            <a:pPr>
              <a:defRPr sz="70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70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92F61F-426A-4A48-B451-87B91D53E1E7}"/>
              </a:ext>
            </a:extLst>
          </p:cNvPr>
          <p:cNvSpPr>
            <a:spLocks noGrp="1"/>
          </p:cNvSpPr>
          <p:nvPr/>
        </p:nvSpPr>
        <p:spPr>
          <a:xfrm>
            <a:off x="2686050" y="211455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97"/>
          </a:bodyPr>
          <a:lstStyle/>
          <a:p>
            <a:pPr>
              <a:defRPr sz="23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DOBRAS EXTERNAS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17951AA-7FC1-4326-8D4B-2A66A6AC0179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7810500" cy="828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Medem generalização. Cada peça é prevista por um modelo treinado sem ela.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0CBC02A-5AE1-4E70-88BC-C8ABA8B0D3D0}"/>
              </a:ext>
            </a:extLst>
          </p:cNvPr>
          <p:cNvSpPr>
            <a:spLocks noGrp="1"/>
          </p:cNvSpPr>
          <p:nvPr/>
        </p:nvSpPr>
        <p:spPr>
          <a:xfrm>
            <a:off x="590550" y="381952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D7BF85F-19A0-4796-AAD0-05394D3153FD}"/>
              </a:ext>
            </a:extLst>
          </p:cNvPr>
          <p:cNvSpPr>
            <a:spLocks noGrp="1"/>
          </p:cNvSpPr>
          <p:nvPr/>
        </p:nvSpPr>
        <p:spPr>
          <a:xfrm>
            <a:off x="590550" y="4162425"/>
            <a:ext cx="2095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72"/>
          </a:bodyPr>
          <a:lstStyle/>
          <a:p>
            <a:pPr>
              <a:defRPr sz="70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70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007D3D3-900D-46AC-941E-C9A8F729C96E}"/>
              </a:ext>
            </a:extLst>
          </p:cNvPr>
          <p:cNvSpPr>
            <a:spLocks noGrp="1"/>
          </p:cNvSpPr>
          <p:nvPr/>
        </p:nvSpPr>
        <p:spPr>
          <a:xfrm>
            <a:off x="2686050" y="4276725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97"/>
          </a:bodyPr>
          <a:lstStyle/>
          <a:p>
            <a:pPr>
              <a:defRPr sz="232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DOBRAS INTERNAS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66ECD9-A4D2-4B6A-B3D7-E8E4B9674347}"/>
              </a:ext>
            </a:extLst>
          </p:cNvPr>
          <p:cNvSpPr>
            <a:spLocks noGrp="1"/>
          </p:cNvSpPr>
          <p:nvPr/>
        </p:nvSpPr>
        <p:spPr>
          <a:xfrm>
            <a:off x="2686050" y="4810125"/>
            <a:ext cx="781050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Escolhem hiperparâmetros pelo menor MAE. Entradas idênticas permanecem no mesmo grupo.</a:t>
            </a:r>
          </a:p>
        </p:txBody>
      </p:sp>
    </p:spTree>
    <p:extLst>
      <p:ext uri="{BB962C8B-B14F-4D97-AF65-F5344CB8AC3E}">
        <p14:creationId xmlns:p14="http://schemas.microsoft.com/office/powerpoint/2010/main" val="2141500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04A1F4B3-43AE-41C3-BC82-FB53A498BE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0F866DA-A9F4-4C5C-835A-AF8AA45F718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10 / KNN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4D94AF-1028-4066-8035-3195CFA508A9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 peça nova consulta exemplos semelhantes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DA0F9D-2127-4C3C-ABD8-79064B8BC95D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02A2BC-08AC-401E-9E12-125A53815922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4085E8-532A-45B4-B78B-0B7BA5789943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D02480D-98C7-45ED-B6B7-FFFA72FA8F81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4238625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O KNN procura vizinhos próximos no espaço das 28 características. Os tempos dos vizinhos mais próximos recebem maior peso.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9BE70A-9FB7-4ECA-95F9-6D709534F2EE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CONFIGURAÇÃO FINAL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3A011B-A8A7-47AB-9A46-A3A22A518DBF}"/>
              </a:ext>
            </a:extLst>
          </p:cNvPr>
          <p:cNvSpPr>
            <a:spLocks noGrp="1"/>
          </p:cNvSpPr>
          <p:nvPr/>
        </p:nvSpPr>
        <p:spPr>
          <a:xfrm>
            <a:off x="590550" y="4143375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11A0C1-7FC3-4D83-BA81-771C0C5E6D90}"/>
              </a:ext>
            </a:extLst>
          </p:cNvPr>
          <p:cNvSpPr>
            <a:spLocks noGrp="1"/>
          </p:cNvSpPr>
          <p:nvPr/>
        </p:nvSpPr>
        <p:spPr>
          <a:xfrm>
            <a:off x="866775" y="4000500"/>
            <a:ext cx="38195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7 vizinhos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82B7BC8-3C55-4089-9004-5B34D12F02D7}"/>
              </a:ext>
            </a:extLst>
          </p:cNvPr>
          <p:cNvSpPr>
            <a:spLocks noGrp="1"/>
          </p:cNvSpPr>
          <p:nvPr/>
        </p:nvSpPr>
        <p:spPr>
          <a:xfrm>
            <a:off x="590550" y="4714875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9C40855-D5B4-46C5-9C10-17BB036DA449}"/>
              </a:ext>
            </a:extLst>
          </p:cNvPr>
          <p:cNvSpPr>
            <a:spLocks noGrp="1"/>
          </p:cNvSpPr>
          <p:nvPr/>
        </p:nvSpPr>
        <p:spPr>
          <a:xfrm>
            <a:off x="866775" y="4572000"/>
            <a:ext cx="38195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pesos por distância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9344CD1-A332-4915-BFBD-51421B0EA9C3}"/>
              </a:ext>
            </a:extLst>
          </p:cNvPr>
          <p:cNvSpPr>
            <a:spLocks noGrp="1"/>
          </p:cNvSpPr>
          <p:nvPr/>
        </p:nvSpPr>
        <p:spPr>
          <a:xfrm>
            <a:off x="590550" y="5286375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8190B9A-3EF3-43B7-BFA8-2FEE5B1791BF}"/>
              </a:ext>
            </a:extLst>
          </p:cNvPr>
          <p:cNvSpPr>
            <a:spLocks noGrp="1"/>
          </p:cNvSpPr>
          <p:nvPr/>
        </p:nvSpPr>
        <p:spPr>
          <a:xfrm>
            <a:off x="866775" y="5143500"/>
            <a:ext cx="38195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distância Manhattan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92235" y="1990725"/>
            <a:ext cx="5503305" cy="3390900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B3740751-4288-49A2-B752-1570039EE17C}"/>
              </a:ext>
            </a:extLst>
          </p:cNvPr>
          <p:cNvSpPr>
            <a:spLocks noGrp="1"/>
          </p:cNvSpPr>
          <p:nvPr/>
        </p:nvSpPr>
        <p:spPr>
          <a:xfrm>
            <a:off x="5219700" y="562927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MAE interno: 18,92 s com Manhattan</a:t>
            </a:r>
          </a:p>
        </p:txBody>
      </p:sp>
    </p:spTree>
    <p:extLst>
      <p:ext uri="{BB962C8B-B14F-4D97-AF65-F5344CB8AC3E}">
        <p14:creationId xmlns:p14="http://schemas.microsoft.com/office/powerpoint/2010/main" val="139366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2975AAD-3FE6-4052-9A1F-8957524FDD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BC422F1-3745-4C11-9DA2-06856DE0D80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11 / RIDGE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12AC23-E317-42B8-9122-29CBE93B3C27}"/>
              </a:ext>
            </a:extLst>
          </p:cNvPr>
          <p:cNvSpPr>
            <a:spLocks noGrp="1"/>
          </p:cNvSpPr>
          <p:nvPr/>
        </p:nvSpPr>
        <p:spPr>
          <a:xfrm>
            <a:off x="590550" y="904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Uma fórmula global com relações curvas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09F7787-9253-47F5-9F17-CA37DB78DA5F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537DDE-B4B8-49E8-BBC1-8A64B616FB0B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03E02B-765B-466C-9FEB-0F21FD210CBC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D37B17-ED12-41B8-9F03-454918BAE99D}"/>
              </a:ext>
            </a:extLst>
          </p:cNvPr>
          <p:cNvSpPr>
            <a:spLocks noGrp="1"/>
          </p:cNvSpPr>
          <p:nvPr/>
        </p:nvSpPr>
        <p:spPr>
          <a:xfrm>
            <a:off x="590550" y="2200275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RIDGE MÚLTIPLA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5E91ED9-CB0F-4518-A45F-0D0925EE3CB9}"/>
              </a:ext>
            </a:extLst>
          </p:cNvPr>
          <p:cNvSpPr>
            <a:spLocks noGrp="1"/>
          </p:cNvSpPr>
          <p:nvPr/>
        </p:nvSpPr>
        <p:spPr>
          <a:xfrm>
            <a:off x="590550" y="2619375"/>
            <a:ext cx="4810125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Combina as entradas em uma relação linear e limita coeficientes excessivos. Serve de referência mais simples.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2D60D0-0722-4C53-90AA-112A37EA4A1F}"/>
              </a:ext>
            </a:extLst>
          </p:cNvPr>
          <p:cNvSpPr>
            <a:spLocks noGrp="1"/>
          </p:cNvSpPr>
          <p:nvPr/>
        </p:nvSpPr>
        <p:spPr>
          <a:xfrm>
            <a:off x="5800725" y="2181225"/>
            <a:ext cx="28575" cy="30003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A493B0-C169-40DD-A447-55547BFF6E48}"/>
              </a:ext>
            </a:extLst>
          </p:cNvPr>
          <p:cNvSpPr>
            <a:spLocks noGrp="1"/>
          </p:cNvSpPr>
          <p:nvPr/>
        </p:nvSpPr>
        <p:spPr>
          <a:xfrm>
            <a:off x="6315075" y="2200275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RIDGE POLINOMIAL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F1222BB-9CC2-49BA-923C-F03D1380872C}"/>
              </a:ext>
            </a:extLst>
          </p:cNvPr>
          <p:cNvSpPr>
            <a:spLocks noGrp="1"/>
          </p:cNvSpPr>
          <p:nvPr/>
        </p:nvSpPr>
        <p:spPr>
          <a:xfrm>
            <a:off x="6315075" y="2619375"/>
            <a:ext cx="4810125" cy="1762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Inclui quadrados e interações entre atributos numéricos. A regularização contém a complexidade. Grau 2, alpha 100.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AA83312-B8A9-41CA-B6B8-F2D95907849E}"/>
              </a:ext>
            </a:extLst>
          </p:cNvPr>
          <p:cNvSpPr>
            <a:spLocks noGrp="1"/>
          </p:cNvSpPr>
          <p:nvPr/>
        </p:nvSpPr>
        <p:spPr>
          <a:xfrm>
            <a:off x="590550" y="5276850"/>
            <a:ext cx="10591800" cy="75247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4703847-41A6-4D6E-99A3-E7F6A8DAA80C}"/>
              </a:ext>
            </a:extLst>
          </p:cNvPr>
          <p:cNvSpPr>
            <a:spLocks noGrp="1"/>
          </p:cNvSpPr>
          <p:nvPr/>
        </p:nvSpPr>
        <p:spPr>
          <a:xfrm>
            <a:off x="809625" y="5381625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Escolha: MAE 2,54% menor que a múltipla, acima do limite prévio de 2%.</a:t>
            </a:r>
          </a:p>
        </p:txBody>
      </p:sp>
    </p:spTree>
    <p:extLst>
      <p:ext uri="{BB962C8B-B14F-4D97-AF65-F5344CB8AC3E}">
        <p14:creationId xmlns:p14="http://schemas.microsoft.com/office/powerpoint/2010/main" val="149708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33FE0FA9-A70C-42F7-8993-E8CE1ED429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8361A6-289C-4EB8-A334-FD4145C09468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12 / MÉTRICAS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18F0B5C-3C39-4ED0-AA37-92892AC5E458}"/>
              </a:ext>
            </a:extLst>
          </p:cNvPr>
          <p:cNvSpPr>
            <a:spLocks noGrp="1"/>
          </p:cNvSpPr>
          <p:nvPr/>
        </p:nvSpPr>
        <p:spPr>
          <a:xfrm>
            <a:off x="590550" y="904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Como ler MAE, RMSE e R²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30F115-63D4-4C14-9DCD-888FD78FF2DF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74059B-F9C7-4AE1-803F-3E50F6278A85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915A1B-55FB-453A-82BF-B5D6161FC82F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7B0FBE-047E-43A5-A373-D77424D3E4E4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233362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MAE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0CD4B7-F8BA-4428-A622-74623F1417D8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75247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erro médio em segundos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0DDA9E-7363-47AD-B18F-47E9E6BA1EC5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47428C-9F39-49B8-B2CB-2A2DA982ADA6}"/>
              </a:ext>
            </a:extLst>
          </p:cNvPr>
          <p:cNvSpPr>
            <a:spLocks noGrp="1"/>
          </p:cNvSpPr>
          <p:nvPr/>
        </p:nvSpPr>
        <p:spPr>
          <a:xfrm>
            <a:off x="590550" y="3095625"/>
            <a:ext cx="233362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RMSE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FA95076-4360-441B-87C6-3E9F3EA9450E}"/>
              </a:ext>
            </a:extLst>
          </p:cNvPr>
          <p:cNvSpPr>
            <a:spLocks noGrp="1"/>
          </p:cNvSpPr>
          <p:nvPr/>
        </p:nvSpPr>
        <p:spPr>
          <a:xfrm>
            <a:off x="3219450" y="3133725"/>
            <a:ext cx="75247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peso maior aos erros grandes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3065CB-D771-4A5B-BA72-F3C5AC8B4824}"/>
              </a:ext>
            </a:extLst>
          </p:cNvPr>
          <p:cNvSpPr>
            <a:spLocks noGrp="1"/>
          </p:cNvSpPr>
          <p:nvPr/>
        </p:nvSpPr>
        <p:spPr>
          <a:xfrm>
            <a:off x="590550" y="381952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EF6BF0-28EF-4860-907C-247EE846B301}"/>
              </a:ext>
            </a:extLst>
          </p:cNvPr>
          <p:cNvSpPr>
            <a:spLocks noGrp="1"/>
          </p:cNvSpPr>
          <p:nvPr/>
        </p:nvSpPr>
        <p:spPr>
          <a:xfrm>
            <a:off x="590550" y="4038600"/>
            <a:ext cx="233362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R²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67E9D2B-023F-444F-ADC4-98F439E4ADBE}"/>
              </a:ext>
            </a:extLst>
          </p:cNvPr>
          <p:cNvSpPr>
            <a:spLocks noGrp="1"/>
          </p:cNvSpPr>
          <p:nvPr/>
        </p:nvSpPr>
        <p:spPr>
          <a:xfrm>
            <a:off x="3219450" y="4076700"/>
            <a:ext cx="75247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comparação com prever a média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693104-24A9-477B-80B5-B4DB8025322E}"/>
              </a:ext>
            </a:extLst>
          </p:cNvPr>
          <p:cNvSpPr>
            <a:spLocks noGrp="1"/>
          </p:cNvSpPr>
          <p:nvPr/>
        </p:nvSpPr>
        <p:spPr>
          <a:xfrm>
            <a:off x="590550" y="4762500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23506D3-874F-4725-AADA-7AFCEB7C91FC}"/>
              </a:ext>
            </a:extLst>
          </p:cNvPr>
          <p:cNvSpPr>
            <a:spLocks noGrp="1"/>
          </p:cNvSpPr>
          <p:nvPr/>
        </p:nvSpPr>
        <p:spPr>
          <a:xfrm>
            <a:off x="590550" y="4981575"/>
            <a:ext cx="233362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≤20 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E2BF18F-C436-4A37-BB88-E5557E3C8469}"/>
              </a:ext>
            </a:extLst>
          </p:cNvPr>
          <p:cNvSpPr>
            <a:spLocks noGrp="1"/>
          </p:cNvSpPr>
          <p:nvPr/>
        </p:nvSpPr>
        <p:spPr>
          <a:xfrm>
            <a:off x="3219450" y="5019675"/>
            <a:ext cx="75247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fração dentro da margem escolhida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6504867-57BE-4AF5-9782-A757D9A9CAFA}"/>
              </a:ext>
            </a:extLst>
          </p:cNvPr>
          <p:cNvSpPr>
            <a:spLocks noGrp="1"/>
          </p:cNvSpPr>
          <p:nvPr/>
        </p:nvSpPr>
        <p:spPr>
          <a:xfrm>
            <a:off x="590550" y="570547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7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6FBB117A-94DD-469A-8CEF-31DCC7C445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B13FA69-C58B-4CC9-AD78-4E31AE60D5E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13 / RESULTADOS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0DEE1A-864B-43AD-81CD-DDD001B7A6F1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KNN teve o menor erro fora da amostra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871C0E-43D7-4831-9A7E-3E93BDE4548E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447958-1C77-46D2-BFE8-7CB64DE48A48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5811BA-9E68-4299-A6CD-6092B03F8B72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5C5E89-3521-4CCB-A7EC-A9F44FBE570C}"/>
              </a:ext>
            </a:extLst>
          </p:cNvPr>
          <p:cNvSpPr>
            <a:spLocks noGrp="1"/>
          </p:cNvSpPr>
          <p:nvPr/>
        </p:nvSpPr>
        <p:spPr>
          <a:xfrm>
            <a:off x="590550" y="19145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MODELO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03CFAAC-AA07-4E49-930F-8E222CB8681C}"/>
              </a:ext>
            </a:extLst>
          </p:cNvPr>
          <p:cNvSpPr>
            <a:spLocks noGrp="1"/>
          </p:cNvSpPr>
          <p:nvPr/>
        </p:nvSpPr>
        <p:spPr>
          <a:xfrm>
            <a:off x="3810000" y="1914525"/>
            <a:ext cx="1857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MAE (s) ↓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68E52E-A03F-4975-A750-78C5AAE37AD2}"/>
              </a:ext>
            </a:extLst>
          </p:cNvPr>
          <p:cNvSpPr>
            <a:spLocks noGrp="1"/>
          </p:cNvSpPr>
          <p:nvPr/>
        </p:nvSpPr>
        <p:spPr>
          <a:xfrm>
            <a:off x="5791200" y="1914525"/>
            <a:ext cx="1857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RMSE (s) ↓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65D610-9812-4307-847F-4A128EB62AC4}"/>
              </a:ext>
            </a:extLst>
          </p:cNvPr>
          <p:cNvSpPr>
            <a:spLocks noGrp="1"/>
          </p:cNvSpPr>
          <p:nvPr/>
        </p:nvSpPr>
        <p:spPr>
          <a:xfrm>
            <a:off x="7772400" y="1914525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R² ↑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61C68E3-6C17-4445-8883-EC6EF7C229CF}"/>
              </a:ext>
            </a:extLst>
          </p:cNvPr>
          <p:cNvSpPr>
            <a:spLocks noGrp="1"/>
          </p:cNvSpPr>
          <p:nvPr/>
        </p:nvSpPr>
        <p:spPr>
          <a:xfrm>
            <a:off x="9639300" y="1914525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≤20 s ↑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6667AD5-C4F9-466E-A49A-BB46B5CBF5EC}"/>
              </a:ext>
            </a:extLst>
          </p:cNvPr>
          <p:cNvSpPr>
            <a:spLocks noGrp="1"/>
          </p:cNvSpPr>
          <p:nvPr/>
        </p:nvSpPr>
        <p:spPr>
          <a:xfrm>
            <a:off x="504825" y="2419350"/>
            <a:ext cx="10763250" cy="800100"/>
          </a:xfrm>
          <a:prstGeom prst="rect">
            <a:avLst/>
          </a:prstGeom>
          <a:solidFill>
            <a:srgbClr val="E8E3D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030E7F0-BC4B-49A4-B883-3F49A876EF3E}"/>
              </a:ext>
            </a:extLst>
          </p:cNvPr>
          <p:cNvSpPr>
            <a:spLocks noGrp="1"/>
          </p:cNvSpPr>
          <p:nvPr/>
        </p:nvSpPr>
        <p:spPr>
          <a:xfrm>
            <a:off x="590550" y="2438400"/>
            <a:ext cx="31432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KNN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1D7C857-47EB-45A3-9108-C9F24A6C4BCA}"/>
              </a:ext>
            </a:extLst>
          </p:cNvPr>
          <p:cNvSpPr>
            <a:spLocks noGrp="1"/>
          </p:cNvSpPr>
          <p:nvPr/>
        </p:nvSpPr>
        <p:spPr>
          <a:xfrm>
            <a:off x="3810000" y="24384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17,43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489C809-E785-4209-8702-D253BA9D7089}"/>
              </a:ext>
            </a:extLst>
          </p:cNvPr>
          <p:cNvSpPr>
            <a:spLocks noGrp="1"/>
          </p:cNvSpPr>
          <p:nvPr/>
        </p:nvSpPr>
        <p:spPr>
          <a:xfrm>
            <a:off x="5791200" y="24384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27,51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4755EE-D05E-4EAA-89E3-71F3951432B7}"/>
              </a:ext>
            </a:extLst>
          </p:cNvPr>
          <p:cNvSpPr>
            <a:spLocks noGrp="1"/>
          </p:cNvSpPr>
          <p:nvPr/>
        </p:nvSpPr>
        <p:spPr>
          <a:xfrm>
            <a:off x="7772400" y="2438400"/>
            <a:ext cx="175260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0,722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B449E50-6508-45C3-B2FC-DFD5B41A5CA8}"/>
              </a:ext>
            </a:extLst>
          </p:cNvPr>
          <p:cNvSpPr>
            <a:spLocks noGrp="1"/>
          </p:cNvSpPr>
          <p:nvPr/>
        </p:nvSpPr>
        <p:spPr>
          <a:xfrm>
            <a:off x="9639300" y="2438400"/>
            <a:ext cx="16573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70,46%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C356455-C7B2-433F-990B-292FB8BB288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7613E4F-F4EA-4A89-9F32-DFFE6BDA8BAA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31432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95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RIDGE MÚLTIPLA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7B45BE5-709B-466E-BE15-DA2432D68DFD}"/>
              </a:ext>
            </a:extLst>
          </p:cNvPr>
          <p:cNvSpPr>
            <a:spLocks noGrp="1"/>
          </p:cNvSpPr>
          <p:nvPr/>
        </p:nvSpPr>
        <p:spPr>
          <a:xfrm>
            <a:off x="3810000" y="34290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22,91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D53558B-D937-40CC-9A95-090C1741A1E7}"/>
              </a:ext>
            </a:extLst>
          </p:cNvPr>
          <p:cNvSpPr>
            <a:spLocks noGrp="1"/>
          </p:cNvSpPr>
          <p:nvPr/>
        </p:nvSpPr>
        <p:spPr>
          <a:xfrm>
            <a:off x="5791200" y="34290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32,55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813C7A1-FA9F-483F-B68A-214629752CF9}"/>
              </a:ext>
            </a:extLst>
          </p:cNvPr>
          <p:cNvSpPr>
            <a:spLocks noGrp="1"/>
          </p:cNvSpPr>
          <p:nvPr/>
        </p:nvSpPr>
        <p:spPr>
          <a:xfrm>
            <a:off x="7772400" y="3429000"/>
            <a:ext cx="175260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0,612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064FB54-1791-4F74-B0AB-361648489C82}"/>
              </a:ext>
            </a:extLst>
          </p:cNvPr>
          <p:cNvSpPr>
            <a:spLocks noGrp="1"/>
          </p:cNvSpPr>
          <p:nvPr/>
        </p:nvSpPr>
        <p:spPr>
          <a:xfrm>
            <a:off x="9639300" y="3429000"/>
            <a:ext cx="16573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58,28%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015FCB5-928C-4C8A-A434-619B9B29382E}"/>
              </a:ext>
            </a:extLst>
          </p:cNvPr>
          <p:cNvSpPr>
            <a:spLocks noGrp="1"/>
          </p:cNvSpPr>
          <p:nvPr/>
        </p:nvSpPr>
        <p:spPr>
          <a:xfrm>
            <a:off x="590550" y="423862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48D85E9-CD73-49F0-9BA9-17DC532650A5}"/>
              </a:ext>
            </a:extLst>
          </p:cNvPr>
          <p:cNvSpPr>
            <a:spLocks noGrp="1"/>
          </p:cNvSpPr>
          <p:nvPr/>
        </p:nvSpPr>
        <p:spPr>
          <a:xfrm>
            <a:off x="590550" y="4419600"/>
            <a:ext cx="31432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195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RIDGE POLINOMIAL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5ACDC5-D11C-4D80-A0FA-1276A9C64336}"/>
              </a:ext>
            </a:extLst>
          </p:cNvPr>
          <p:cNvSpPr>
            <a:spLocks noGrp="1"/>
          </p:cNvSpPr>
          <p:nvPr/>
        </p:nvSpPr>
        <p:spPr>
          <a:xfrm>
            <a:off x="3810000" y="44196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22,33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CD5124A-4C7B-4746-99FC-63D597507F3B}"/>
              </a:ext>
            </a:extLst>
          </p:cNvPr>
          <p:cNvSpPr>
            <a:spLocks noGrp="1"/>
          </p:cNvSpPr>
          <p:nvPr/>
        </p:nvSpPr>
        <p:spPr>
          <a:xfrm>
            <a:off x="5791200" y="4419600"/>
            <a:ext cx="18573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32,96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056C0A1-7B80-4E17-9CE2-B5A3461B3251}"/>
              </a:ext>
            </a:extLst>
          </p:cNvPr>
          <p:cNvSpPr>
            <a:spLocks noGrp="1"/>
          </p:cNvSpPr>
          <p:nvPr/>
        </p:nvSpPr>
        <p:spPr>
          <a:xfrm>
            <a:off x="7772400" y="4419600"/>
            <a:ext cx="175260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0,602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C7C4004-B00D-469D-B4D8-43BD438EDA6A}"/>
              </a:ext>
            </a:extLst>
          </p:cNvPr>
          <p:cNvSpPr>
            <a:spLocks noGrp="1"/>
          </p:cNvSpPr>
          <p:nvPr/>
        </p:nvSpPr>
        <p:spPr>
          <a:xfrm>
            <a:off x="9639300" y="4419600"/>
            <a:ext cx="16573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23272B"/>
                </a:solidFill>
                <a:latin typeface="Bahnschrift"/>
                <a:ea typeface="Bahnschrift"/>
                <a:cs typeface="Bahnschrift"/>
              </a:rPr>
              <a:t>59,86%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B80DD87-110B-4278-9524-E660C9338ADC}"/>
              </a:ext>
            </a:extLst>
          </p:cNvPr>
          <p:cNvSpPr>
            <a:spLocks noGrp="1"/>
          </p:cNvSpPr>
          <p:nvPr/>
        </p:nvSpPr>
        <p:spPr>
          <a:xfrm>
            <a:off x="590550" y="5229225"/>
            <a:ext cx="10734675" cy="19050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59A89C1-0314-45CE-A557-75792508A1FE}"/>
              </a:ext>
            </a:extLst>
          </p:cNvPr>
          <p:cNvSpPr>
            <a:spLocks noGrp="1"/>
          </p:cNvSpPr>
          <p:nvPr/>
        </p:nvSpPr>
        <p:spPr>
          <a:xfrm>
            <a:off x="590550" y="58007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−21,9% de MAE em relação à Ridge Polinomial</a:t>
            </a:r>
          </a:p>
        </p:txBody>
      </p:sp>
    </p:spTree>
    <p:extLst>
      <p:ext uri="{BB962C8B-B14F-4D97-AF65-F5344CB8AC3E}">
        <p14:creationId xmlns:p14="http://schemas.microsoft.com/office/powerpoint/2010/main" val="935688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EA422098-852A-49C3-B4A0-5BE320B960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041033-C2CB-4F32-ABE4-10CD40AC02AE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13 / RESULTADOS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5197577-AF2C-4DBB-A6B4-271AFEFA6763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 diagonal representa a previsão perfeita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D78DF81-14CD-4396-B026-502B28B5B7FF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351D67-AA17-4C00-8EC6-04FBE79D94BE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82D576-F351-46C4-B9CC-E6FEE61AB950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526" y="1790700"/>
            <a:ext cx="4497923" cy="390525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69255" y="1790700"/>
            <a:ext cx="4492266" cy="390525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631C456-67EF-4793-9BD2-B7FA19572810}"/>
              </a:ext>
            </a:extLst>
          </p:cNvPr>
          <p:cNvSpPr>
            <a:spLocks noGrp="1"/>
          </p:cNvSpPr>
          <p:nvPr/>
        </p:nvSpPr>
        <p:spPr>
          <a:xfrm>
            <a:off x="590550" y="5857875"/>
            <a:ext cx="10620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Acima da linha: superestimou. Abaixo: subestimou. Mais longe: erro maior.</a:t>
            </a:r>
          </a:p>
        </p:txBody>
      </p:sp>
    </p:spTree>
    <p:extLst>
      <p:ext uri="{BB962C8B-B14F-4D97-AF65-F5344CB8AC3E}">
        <p14:creationId xmlns:p14="http://schemas.microsoft.com/office/powerpoint/2010/main" val="34775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A6D1AA1-A252-475D-A822-82934CE00B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0A03B41-12FB-4E43-8D2F-D0D1C0FA288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13 / RESULTADOS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D93D88-CDA6-426E-90F9-C06486ED0951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Sete em dez previsões do KNN ficaram a até 20 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6CF415-37EF-4308-B3D0-90D40F74016E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9C1E42-30C3-4ABF-9E04-83A0DD7FAE39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4E4E64F-A542-4FF9-82E0-9B1E88B943F2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47" y="1781175"/>
            <a:ext cx="7242831" cy="409575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D55673B-B7BB-44F8-B3FC-8624683D8F9B}"/>
              </a:ext>
            </a:extLst>
          </p:cNvPr>
          <p:cNvSpPr>
            <a:spLocks noGrp="1"/>
          </p:cNvSpPr>
          <p:nvPr/>
        </p:nvSpPr>
        <p:spPr>
          <a:xfrm>
            <a:off x="8420100" y="2019300"/>
            <a:ext cx="28575" cy="3286125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ED70EF-9B11-4B8A-9200-A37FF461140C}"/>
              </a:ext>
            </a:extLst>
          </p:cNvPr>
          <p:cNvSpPr>
            <a:spLocks noGrp="1"/>
          </p:cNvSpPr>
          <p:nvPr/>
        </p:nvSpPr>
        <p:spPr>
          <a:xfrm>
            <a:off x="8810625" y="2105025"/>
            <a:ext cx="24765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70,46%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EF7F34-CF8B-474F-92E5-62022819CDF3}"/>
              </a:ext>
            </a:extLst>
          </p:cNvPr>
          <p:cNvSpPr>
            <a:spLocks noGrp="1"/>
          </p:cNvSpPr>
          <p:nvPr/>
        </p:nvSpPr>
        <p:spPr>
          <a:xfrm>
            <a:off x="8810625" y="28289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KNN: até 20 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B7C14C-6266-46FA-BE41-5BBEA3D856C9}"/>
              </a:ext>
            </a:extLst>
          </p:cNvPr>
          <p:cNvSpPr>
            <a:spLocks noGrp="1"/>
          </p:cNvSpPr>
          <p:nvPr/>
        </p:nvSpPr>
        <p:spPr>
          <a:xfrm>
            <a:off x="8810625" y="3981450"/>
            <a:ext cx="24765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59,86%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56B598A-80A0-4EF0-9889-D27D9A3B3031}"/>
              </a:ext>
            </a:extLst>
          </p:cNvPr>
          <p:cNvSpPr>
            <a:spLocks noGrp="1"/>
          </p:cNvSpPr>
          <p:nvPr/>
        </p:nvSpPr>
        <p:spPr>
          <a:xfrm>
            <a:off x="8810625" y="47053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Polinomial: até 20 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B84650E-E30B-41AD-B5BD-8B4448AFC173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6F7B8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F7B82"/>
                </a:solidFill>
                <a:latin typeface="Segoe UI"/>
                <a:ea typeface="Segoe UI"/>
                <a:cs typeface="Segoe UI"/>
              </a:rPr>
              <a:t>Limites cumulativos: ≤10 está incluído em ≤20.</a:t>
            </a:r>
          </a:p>
        </p:txBody>
      </p:sp>
    </p:spTree>
    <p:extLst>
      <p:ext uri="{BB962C8B-B14F-4D97-AF65-F5344CB8AC3E}">
        <p14:creationId xmlns:p14="http://schemas.microsoft.com/office/powerpoint/2010/main" val="1180413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53C1CF5-78EF-4803-A056-092C829226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1F3D5C5-0677-4407-9463-80DCD7E962E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14 / DIAGNÓSTICO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A116007-D096-4079-A97E-0ECB8A8C5DCB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A matriz mostra a troca entre faixas de tempo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D595D1-7E3E-4DCD-9488-4C0BB8B002BB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21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5B486E-ABC9-4297-BC1F-D4179C283B89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D04D6E-5484-4422-B70F-65A28E5B78E9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5130" y="1762125"/>
            <a:ext cx="9440765" cy="40290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CEC5910-C3C3-4047-8525-EE336FB6215F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Linhas = tempo real. Colunas = tempo previsto. Diagonal = mesma faixa.</a:t>
            </a:r>
          </a:p>
        </p:txBody>
      </p:sp>
    </p:spTree>
    <p:extLst>
      <p:ext uri="{BB962C8B-B14F-4D97-AF65-F5344CB8AC3E}">
        <p14:creationId xmlns:p14="http://schemas.microsoft.com/office/powerpoint/2010/main" val="685244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F876AB2F-53B6-408C-9007-83839D48E3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58EF88-D31C-47F1-BBE7-B101716D2BAA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15 / USO E LIMITES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907204-AEE7-4999-86A9-02D8D7B8BD07}"/>
              </a:ext>
            </a:extLst>
          </p:cNvPr>
          <p:cNvSpPr>
            <a:spLocks noGrp="1"/>
          </p:cNvSpPr>
          <p:nvPr/>
        </p:nvSpPr>
        <p:spPr>
          <a:xfrm>
            <a:off x="590550" y="8477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 programa já prevê; a operação precisa monitorar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4ADE7D-0463-485B-9362-EB993D4AE00B}"/>
              </a:ext>
            </a:extLst>
          </p:cNvPr>
          <p:cNvSpPr>
            <a:spLocks noGrp="1"/>
          </p:cNvSpPr>
          <p:nvPr/>
        </p:nvSpPr>
        <p:spPr>
          <a:xfrm>
            <a:off x="11049000" y="35242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22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6A6EDD-E4A7-4CB2-BE10-15E7B9F330F7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70C6E2-5AE9-4A3F-8CF6-8B1A6E4F8455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6F7B82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139E14-419E-4BB3-9912-86C37C54B294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USO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336B743-131D-4564-85AE-C321BB46D1A1}"/>
              </a:ext>
            </a:extLst>
          </p:cNvPr>
          <p:cNvSpPr>
            <a:spLocks noGrp="1"/>
          </p:cNvSpPr>
          <p:nvPr/>
        </p:nvSpPr>
        <p:spPr>
          <a:xfrm>
            <a:off x="590550" y="2447925"/>
            <a:ext cx="4810125" cy="1952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Recebe DXF, material e espessura. O extrator monta as 28 entradas e retorna separadamente o tempo estimado pelo KNN e pela Ridge Polinomial.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05A1AE-9874-4E12-B84C-EC45ABD2CD27}"/>
              </a:ext>
            </a:extLst>
          </p:cNvPr>
          <p:cNvSpPr>
            <a:spLocks noGrp="1"/>
          </p:cNvSpPr>
          <p:nvPr/>
        </p:nvSpPr>
        <p:spPr>
          <a:xfrm>
            <a:off x="5810250" y="2000250"/>
            <a:ext cx="28575" cy="3476625"/>
          </a:xfrm>
          <a:prstGeom prst="rect">
            <a:avLst/>
          </a:prstGeom>
          <a:solidFill>
            <a:srgbClr val="D4CBC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2DFACF7-F4E5-4331-980A-DF70D85E29AE}"/>
              </a:ext>
            </a:extLst>
          </p:cNvPr>
          <p:cNvSpPr>
            <a:spLocks noGrp="1"/>
          </p:cNvSpPr>
          <p:nvPr/>
        </p:nvSpPr>
        <p:spPr>
          <a:xfrm>
            <a:off x="6353175" y="20478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CAUTELAS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A4CF76-E264-4A58-AEE9-04CD478A272C}"/>
              </a:ext>
            </a:extLst>
          </p:cNvPr>
          <p:cNvSpPr>
            <a:spLocks noGrp="1"/>
          </p:cNvSpPr>
          <p:nvPr/>
        </p:nvSpPr>
        <p:spPr>
          <a:xfrm>
            <a:off x="6353175" y="2619375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D4FB68-9EFF-4BC1-8A15-F13DFEC3A9C3}"/>
              </a:ext>
            </a:extLst>
          </p:cNvPr>
          <p:cNvSpPr>
            <a:spLocks noGrp="1"/>
          </p:cNvSpPr>
          <p:nvPr/>
        </p:nvSpPr>
        <p:spPr>
          <a:xfrm>
            <a:off x="6629400" y="2476500"/>
            <a:ext cx="43910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829 de 1.141 peças são SAE 1020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F9AB5B9-A492-4E93-9DE0-74E8F39996DD}"/>
              </a:ext>
            </a:extLst>
          </p:cNvPr>
          <p:cNvSpPr>
            <a:spLocks noGrp="1"/>
          </p:cNvSpPr>
          <p:nvPr/>
        </p:nvSpPr>
        <p:spPr>
          <a:xfrm>
            <a:off x="6353175" y="3333750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9F56581-34FE-4C61-AE13-F6FD043827B6}"/>
              </a:ext>
            </a:extLst>
          </p:cNvPr>
          <p:cNvSpPr>
            <a:spLocks noGrp="1"/>
          </p:cNvSpPr>
          <p:nvPr/>
        </p:nvSpPr>
        <p:spPr>
          <a:xfrm>
            <a:off x="6629400" y="3190875"/>
            <a:ext cx="4391025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Peças acima de 120 s têm erro maior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14D96FC-00BB-4713-9653-2814D22C8931}"/>
              </a:ext>
            </a:extLst>
          </p:cNvPr>
          <p:cNvSpPr>
            <a:spLocks noGrp="1"/>
          </p:cNvSpPr>
          <p:nvPr/>
        </p:nvSpPr>
        <p:spPr>
          <a:xfrm>
            <a:off x="6353175" y="4124325"/>
            <a:ext cx="95250" cy="9525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F51536F-EB05-44C7-B84C-48A42BF92C9E}"/>
              </a:ext>
            </a:extLst>
          </p:cNvPr>
          <p:cNvSpPr>
            <a:spLocks noGrp="1"/>
          </p:cNvSpPr>
          <p:nvPr/>
        </p:nvSpPr>
        <p:spPr>
          <a:xfrm>
            <a:off x="6629400" y="3981450"/>
            <a:ext cx="439102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23272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272B"/>
                </a:solidFill>
                <a:latin typeface="Segoe UI"/>
                <a:ea typeface="Segoe UI"/>
                <a:cs typeface="Segoe UI"/>
              </a:rPr>
              <a:t>Outras máquinas exigem validação própria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715DFA-F1F0-4C30-8605-9EF241764C6F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10734675" cy="581025"/>
          </a:xfrm>
          <a:prstGeom prst="rect">
            <a:avLst/>
          </a:prstGeom>
          <a:solidFill>
            <a:srgbClr val="23272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8E9A2CB-60A0-4958-AEE0-4E36083D72FD}"/>
              </a:ext>
            </a:extLst>
          </p:cNvPr>
          <p:cNvSpPr>
            <a:spLocks noGrp="1"/>
          </p:cNvSpPr>
          <p:nvPr/>
        </p:nvSpPr>
        <p:spPr>
          <a:xfrm>
            <a:off x="781050" y="5724525"/>
            <a:ext cx="10239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Próxima etapa: registrar parâmetros da máquina e medir o erro de cada novo lote.</a:t>
            </a:r>
          </a:p>
        </p:txBody>
      </p:sp>
    </p:spTree>
    <p:extLst>
      <p:ext uri="{BB962C8B-B14F-4D97-AF65-F5344CB8AC3E}">
        <p14:creationId xmlns:p14="http://schemas.microsoft.com/office/powerpoint/2010/main" val="1120926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5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5BAAA95-21EC-42A6-B791-71D6F4D26C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1A1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0592F38-CB7C-416D-B56E-FC0236B4BD1D}"/>
              </a:ext>
            </a:extLst>
          </p:cNvPr>
          <p:cNvSpPr>
            <a:spLocks noGrp="1"/>
          </p:cNvSpPr>
          <p:nvPr/>
        </p:nvSpPr>
        <p:spPr>
          <a:xfrm>
            <a:off x="590550" y="676275"/>
            <a:ext cx="61912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AAF331D-5967-481D-BAEE-E36D69E53B3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572750" cy="1628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KNN foi a melhor</a:t>
            </a:r>
          </a:p>
          <a:p>
            <a:pPr>
              <a:defRPr sz="4875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875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opção testada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FC6265-4F92-4C5B-B287-3711F9FF4B5D}"/>
              </a:ext>
            </a:extLst>
          </p:cNvPr>
          <p:cNvSpPr>
            <a:spLocks noGrp="1"/>
          </p:cNvSpPr>
          <p:nvPr/>
        </p:nvSpPr>
        <p:spPr>
          <a:xfrm>
            <a:off x="590550" y="3533775"/>
            <a:ext cx="10839450" cy="28575"/>
          </a:xfrm>
          <a:prstGeom prst="rect">
            <a:avLst/>
          </a:prstGeom>
          <a:solidFill>
            <a:srgbClr val="161A1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26BA32-7F2D-467A-8DAB-8CEDC358A957}"/>
              </a:ext>
            </a:extLst>
          </p:cNvPr>
          <p:cNvSpPr>
            <a:spLocks noGrp="1"/>
          </p:cNvSpPr>
          <p:nvPr/>
        </p:nvSpPr>
        <p:spPr>
          <a:xfrm>
            <a:off x="590550" y="3800475"/>
            <a:ext cx="290512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17,43 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68364F6-4E8B-4563-9306-CE4B9B8F15A1}"/>
              </a:ext>
            </a:extLst>
          </p:cNvPr>
          <p:cNvSpPr>
            <a:spLocks noGrp="1"/>
          </p:cNvSpPr>
          <p:nvPr/>
        </p:nvSpPr>
        <p:spPr>
          <a:xfrm>
            <a:off x="590550" y="4524375"/>
            <a:ext cx="29051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MAE fora da amostra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979A2F-A474-4E83-AD52-9087D2CE601D}"/>
              </a:ext>
            </a:extLst>
          </p:cNvPr>
          <p:cNvSpPr>
            <a:spLocks noGrp="1"/>
          </p:cNvSpPr>
          <p:nvPr/>
        </p:nvSpPr>
        <p:spPr>
          <a:xfrm>
            <a:off x="4429125" y="3800475"/>
            <a:ext cx="26670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0,722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486C54-6B7F-49B4-ADDC-244830FC6A38}"/>
              </a:ext>
            </a:extLst>
          </p:cNvPr>
          <p:cNvSpPr>
            <a:spLocks noGrp="1"/>
          </p:cNvSpPr>
          <p:nvPr/>
        </p:nvSpPr>
        <p:spPr>
          <a:xfrm>
            <a:off x="4429125" y="4524375"/>
            <a:ext cx="2667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R²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085710-3ACC-4F25-BE02-28D8A24743BF}"/>
              </a:ext>
            </a:extLst>
          </p:cNvPr>
          <p:cNvSpPr>
            <a:spLocks noGrp="1"/>
          </p:cNvSpPr>
          <p:nvPr/>
        </p:nvSpPr>
        <p:spPr>
          <a:xfrm>
            <a:off x="8086725" y="3800475"/>
            <a:ext cx="295275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161A1E"/>
                </a:solidFill>
                <a:latin typeface="Bahnschrift"/>
                <a:ea typeface="Bahnschrift"/>
                <a:cs typeface="Bahnschrift"/>
              </a:rPr>
              <a:t>70,46%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9E0FEC-E647-4B4D-B078-A1B3CF0E96B4}"/>
              </a:ext>
            </a:extLst>
          </p:cNvPr>
          <p:cNvSpPr>
            <a:spLocks noGrp="1"/>
          </p:cNvSpPr>
          <p:nvPr/>
        </p:nvSpPr>
        <p:spPr>
          <a:xfrm>
            <a:off x="8086725" y="4524375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erros até 20 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E4D559-EF2B-4F41-BCB9-3552D7006E35}"/>
              </a:ext>
            </a:extLst>
          </p:cNvPr>
          <p:cNvSpPr>
            <a:spLocks noGrp="1"/>
          </p:cNvSpPr>
          <p:nvPr/>
        </p:nvSpPr>
        <p:spPr>
          <a:xfrm>
            <a:off x="590550" y="5676900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161A1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61A1E"/>
                </a:solidFill>
                <a:latin typeface="Segoe UI"/>
                <a:ea typeface="Segoe UI"/>
                <a:cs typeface="Segoe UI"/>
              </a:rPr>
              <a:t>Estimativa antes do corte, com validação contínua para novos materiais e condições.</a:t>
            </a:r>
          </a:p>
        </p:txBody>
      </p:sp>
    </p:spTree>
    <p:extLst>
      <p:ext uri="{BB962C8B-B14F-4D97-AF65-F5344CB8AC3E}">
        <p14:creationId xmlns:p14="http://schemas.microsoft.com/office/powerpoint/2010/main" val="2011060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533A64A-3521-4B4C-BB42-5DA17C68C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7D04A5-5BE5-4C44-8BCF-5DDF7F8B7802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def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75D2A"/>
                </a:solidFill>
                <a:latin typeface="Bahnschrift"/>
                <a:ea typeface="Bahnschrift"/>
                <a:cs typeface="Bahnschrift"/>
              </a:rPr>
              <a:t>16 / REFERÊNCIAS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92ED30-AC16-4338-8575-E6CB1FA97B6E}"/>
              </a:ext>
            </a:extLst>
          </p:cNvPr>
          <p:cNvSpPr>
            <a:spLocks noGrp="1"/>
          </p:cNvSpPr>
          <p:nvPr/>
        </p:nvSpPr>
        <p:spPr>
          <a:xfrm>
            <a:off x="590550" y="904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Fontes da pesquisa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18247F5-9949-46CD-91DE-E33DA076CB65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24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7233F55-B392-49B4-A471-E62CBEB8BC7E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10934700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E4B7448-518C-4FA5-9A9A-B43F00967827}"/>
              </a:ext>
            </a:extLst>
          </p:cNvPr>
          <p:cNvSpPr>
            <a:spLocks noGrp="1"/>
          </p:cNvSpPr>
          <p:nvPr/>
        </p:nvSpPr>
        <p:spPr>
          <a:xfrm>
            <a:off x="590550" y="64293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/>
          </a:bodyPr>
          <a:lstStyle/>
          <a:p>
            <a:pPr>
              <a:def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CED6D6"/>
                </a:solidFill>
                <a:latin typeface="Bahnschrift"/>
                <a:ea typeface="Bahnschrift"/>
                <a:cs typeface="Bahnschrift"/>
              </a:rPr>
              <a:t>TEMPO DE CORTE PLASMA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C6D3E16-2B73-4D40-A841-61D7014F543F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7620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87F183F-FD00-4C14-86BA-5CCE387ADD17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BAKKER (2023)  ·  Workload Prediction for the V310  ·  University of Twente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AAD2A5-4021-4BA7-8E5A-2FAF8CE69E4F}"/>
              </a:ext>
            </a:extLst>
          </p:cNvPr>
          <p:cNvSpPr>
            <a:spLocks noGrp="1"/>
          </p:cNvSpPr>
          <p:nvPr/>
        </p:nvSpPr>
        <p:spPr>
          <a:xfrm>
            <a:off x="590550" y="260032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3D588D-A56D-404A-B115-ACF631DC25E7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7620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A6F9634-CB9F-454C-AD22-44263C36426F}"/>
              </a:ext>
            </a:extLst>
          </p:cNvPr>
          <p:cNvSpPr>
            <a:spLocks noGrp="1"/>
          </p:cNvSpPr>
          <p:nvPr/>
        </p:nvSpPr>
        <p:spPr>
          <a:xfrm>
            <a:off x="857250" y="2752725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MA’RUF ET AL. (2024)  ·  Early Machining Time Estimation  ·  Procedia CIRP 130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47DF4F9-C031-47DA-A4CF-E7F9DCFE42D1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D64D9B4-E0C2-4831-8226-7047A98818E5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7620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A5FB02-85A8-4B03-895A-0512D9A80946}"/>
              </a:ext>
            </a:extLst>
          </p:cNvPr>
          <p:cNvSpPr>
            <a:spLocks noGrp="1"/>
          </p:cNvSpPr>
          <p:nvPr/>
        </p:nvSpPr>
        <p:spPr>
          <a:xfrm>
            <a:off x="857250" y="3457575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ARIKAN ET AL. (2025)  ·  Manufacturing Cost Prediction from 2D Drawings  ·  arXiv:2508.12440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2864756-8199-491E-8561-27D8CE672C15}"/>
              </a:ext>
            </a:extLst>
          </p:cNvPr>
          <p:cNvSpPr>
            <a:spLocks noGrp="1"/>
          </p:cNvSpPr>
          <p:nvPr/>
        </p:nvSpPr>
        <p:spPr>
          <a:xfrm>
            <a:off x="590550" y="401002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B9FABB-8030-4C0F-8C3E-1D03D11A3DFA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7620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C2E934-BE10-4A6B-B4E7-55B9949F31CF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MIEBS E BACHORZ (2025)  ·  Technology Prediction of a 3D Model  ·  arXiv:2505.04241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C3B2066-C3E3-4886-BF4E-F3F0A59B3114}"/>
              </a:ext>
            </a:extLst>
          </p:cNvPr>
          <p:cNvSpPr>
            <a:spLocks noGrp="1"/>
          </p:cNvSpPr>
          <p:nvPr/>
        </p:nvSpPr>
        <p:spPr>
          <a:xfrm>
            <a:off x="590550" y="471487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B607C45-CA1F-41EA-9D46-771526EE5E7D}"/>
              </a:ext>
            </a:extLst>
          </p:cNvPr>
          <p:cNvSpPr>
            <a:spLocks noGrp="1"/>
          </p:cNvSpPr>
          <p:nvPr/>
        </p:nvSpPr>
        <p:spPr>
          <a:xfrm>
            <a:off x="590550" y="4991100"/>
            <a:ext cx="76200" cy="76200"/>
          </a:xfrm>
          <a:prstGeom prst="rect">
            <a:avLst/>
          </a:prstGeom>
          <a:solidFill>
            <a:srgbClr val="E75D2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5CED259-168A-4B17-959C-FEA24E738BAB}"/>
              </a:ext>
            </a:extLst>
          </p:cNvPr>
          <p:cNvSpPr>
            <a:spLocks noGrp="1"/>
          </p:cNvSpPr>
          <p:nvPr/>
        </p:nvSpPr>
        <p:spPr>
          <a:xfrm>
            <a:off x="857250" y="4867275"/>
            <a:ext cx="10191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XLAB  ·  CNCSmart: AI supported machine data acquisition and control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DD52F76-86D4-4E80-8814-052280D45CAA}"/>
              </a:ext>
            </a:extLst>
          </p:cNvPr>
          <p:cNvSpPr>
            <a:spLocks noGrp="1"/>
          </p:cNvSpPr>
          <p:nvPr/>
        </p:nvSpPr>
        <p:spPr>
          <a:xfrm>
            <a:off x="590550" y="5419725"/>
            <a:ext cx="10620375" cy="9525"/>
          </a:xfrm>
          <a:prstGeom prst="rect">
            <a:avLst/>
          </a:prstGeom>
          <a:solidFill>
            <a:srgbClr val="5B606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ED2EE39-080F-4194-B3F1-DE414A38E932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CED6D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ED6D6"/>
                </a:solidFill>
                <a:latin typeface="Segoe UI"/>
                <a:ea typeface="Segoe UI"/>
                <a:cs typeface="Segoe UI"/>
              </a:rPr>
              <a:t>Dados e resultados próprios: dataset_plasma_v10.csv · relatorio_treinamento.json</a:t>
            </a:r>
          </a:p>
        </p:txBody>
      </p:sp>
    </p:spTree>
    <p:extLst>
      <p:ext uri="{BB962C8B-B14F-4D97-AF65-F5344CB8AC3E}">
        <p14:creationId xmlns:p14="http://schemas.microsoft.com/office/powerpoint/2010/main" val="13351966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2271</Words>
  <Application>Microsoft Office PowerPoint</Application>
  <DocSecurity>0</DocSecurity>
  <PresentationFormat>Widescreen</PresentationFormat>
  <Paragraphs>296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Bahnschrift</vt:lpstr>
      <vt:lpstr>Segoe UI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Miguel Antonio Gregorio Firme</cp:lastModifiedBy>
  <cp:revision>1</cp:revision>
  <dcterms:created xsi:type="dcterms:W3CDTF">2026-10-01T17:44:34Z</dcterms:created>
  <dcterms:modified xsi:type="dcterms:W3CDTF">2026-10-01T23:11:38Z</dcterms:modified>
</cp:coreProperties>
</file>